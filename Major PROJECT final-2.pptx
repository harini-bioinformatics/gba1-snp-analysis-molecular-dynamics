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5"/>
  </p:notesMasterIdLst>
  <p:sldIdLst>
    <p:sldId id="344" r:id="rId2"/>
    <p:sldId id="390" r:id="rId3"/>
    <p:sldId id="473" r:id="rId4"/>
    <p:sldId id="438" r:id="rId5"/>
    <p:sldId id="474" r:id="rId6"/>
    <p:sldId id="256" r:id="rId7"/>
    <p:sldId id="257" r:id="rId8"/>
    <p:sldId id="258" r:id="rId9"/>
    <p:sldId id="259" r:id="rId10"/>
    <p:sldId id="260" r:id="rId11"/>
    <p:sldId id="265" r:id="rId12"/>
    <p:sldId id="262" r:id="rId13"/>
    <p:sldId id="266" r:id="rId14"/>
    <p:sldId id="475" r:id="rId15"/>
    <p:sldId id="466" r:id="rId16"/>
    <p:sldId id="467" r:id="rId17"/>
    <p:sldId id="468" r:id="rId18"/>
    <p:sldId id="469" r:id="rId19"/>
    <p:sldId id="471" r:id="rId20"/>
    <p:sldId id="476" r:id="rId21"/>
    <p:sldId id="398" r:id="rId22"/>
    <p:sldId id="477" r:id="rId23"/>
    <p:sldId id="355" r:id="rId24"/>
    <p:sldId id="292" r:id="rId25"/>
    <p:sldId id="440" r:id="rId26"/>
    <p:sldId id="441" r:id="rId27"/>
    <p:sldId id="439" r:id="rId28"/>
    <p:sldId id="442" r:id="rId29"/>
    <p:sldId id="443" r:id="rId30"/>
    <p:sldId id="444" r:id="rId31"/>
    <p:sldId id="445" r:id="rId32"/>
    <p:sldId id="446" r:id="rId33"/>
    <p:sldId id="447" r:id="rId34"/>
    <p:sldId id="448" r:id="rId35"/>
    <p:sldId id="449" r:id="rId36"/>
    <p:sldId id="451" r:id="rId37"/>
    <p:sldId id="459" r:id="rId38"/>
    <p:sldId id="461" r:id="rId39"/>
    <p:sldId id="464" r:id="rId40"/>
    <p:sldId id="463" r:id="rId41"/>
    <p:sldId id="460" r:id="rId42"/>
    <p:sldId id="462" r:id="rId43"/>
    <p:sldId id="452" r:id="rId44"/>
    <p:sldId id="453" r:id="rId45"/>
    <p:sldId id="454" r:id="rId46"/>
    <p:sldId id="455" r:id="rId47"/>
    <p:sldId id="456" r:id="rId48"/>
    <p:sldId id="457" r:id="rId49"/>
    <p:sldId id="465" r:id="rId50"/>
    <p:sldId id="472" r:id="rId51"/>
    <p:sldId id="478" r:id="rId52"/>
    <p:sldId id="479" r:id="rId53"/>
    <p:sldId id="480" r:id="rId54"/>
    <p:sldId id="481" r:id="rId55"/>
    <p:sldId id="482" r:id="rId56"/>
    <p:sldId id="483" r:id="rId57"/>
    <p:sldId id="484" r:id="rId58"/>
    <p:sldId id="485" r:id="rId59"/>
    <p:sldId id="486" r:id="rId60"/>
    <p:sldId id="487" r:id="rId61"/>
    <p:sldId id="488" r:id="rId62"/>
    <p:sldId id="450" r:id="rId63"/>
    <p:sldId id="435" r:id="rId64"/>
  </p:sldIdLst>
  <p:sldSz cx="9144000" cy="5143500" type="screen16x9"/>
  <p:notesSz cx="6858000" cy="9144000"/>
  <p:embeddedFontLst>
    <p:embeddedFont>
      <p:font typeface="Tahoma" panose="020B0604030504040204" pitchFamily="34" charset="0"/>
      <p:regular r:id="rId66"/>
      <p:bold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9AA0A6"/>
          </p15:clr>
        </p15:guide>
        <p15:guide id="2" pos="2831"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80" d="100"/>
          <a:sy n="80" d="100"/>
        </p:scale>
        <p:origin x="880" y="4"/>
      </p:cViewPr>
      <p:guideLst>
        <p:guide orient="horz" pos="1620"/>
        <p:guide pos="283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1.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3375"/>
            </a:lvl1pPr>
          </a:lstStyle>
          <a:p>
            <a:r>
              <a:rPr lang="en-US"/>
              <a:t>Click to edit Master title style</a:t>
            </a:r>
          </a:p>
        </p:txBody>
      </p:sp>
      <p:sp>
        <p:nvSpPr>
          <p:cNvPr id="3" name="Subtitle 2"/>
          <p:cNvSpPr>
            <a:spLocks noGrp="1"/>
          </p:cNvSpPr>
          <p:nvPr>
            <p:ph type="subTitle" idx="1"/>
          </p:nvPr>
        </p:nvSpPr>
        <p:spPr>
          <a:xfrm>
            <a:off x="1143000" y="2701529"/>
            <a:ext cx="6858000" cy="1241822"/>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3375"/>
            </a:lvl1pPr>
          </a:lstStyle>
          <a:p>
            <a:r>
              <a:rPr lang="en-US"/>
              <a:t>Click to edit Master title style</a:t>
            </a:r>
          </a:p>
        </p:txBody>
      </p:sp>
      <p:sp>
        <p:nvSpPr>
          <p:cNvPr id="3" name="Text Placeholder 2"/>
          <p:cNvSpPr>
            <a:spLocks noGrp="1"/>
          </p:cNvSpPr>
          <p:nvPr>
            <p:ph type="body" idx="1"/>
          </p:nvPr>
        </p:nvSpPr>
        <p:spPr>
          <a:xfrm>
            <a:off x="623888" y="3442097"/>
            <a:ext cx="7886700" cy="1125140"/>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2504"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296" y="1200150"/>
            <a:ext cx="4032504" cy="33944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1" y="1260872"/>
            <a:ext cx="3868340" cy="617934"/>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629841"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8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1800"/>
            </a:lvl1pPr>
          </a:lstStyle>
          <a:p>
            <a:r>
              <a:rPr lang="en-US"/>
              <a:t>Click to edit Master title style</a:t>
            </a:r>
          </a:p>
        </p:txBody>
      </p:sp>
      <p:sp>
        <p:nvSpPr>
          <p:cNvPr id="3" name="Picture Placeholder 2"/>
          <p:cNvSpPr>
            <a:spLocks noGrp="1"/>
          </p:cNvSpPr>
          <p:nvPr>
            <p:ph type="pic" idx="1"/>
          </p:nvPr>
        </p:nvSpPr>
        <p:spPr>
          <a:xfrm>
            <a:off x="3887391" y="740569"/>
            <a:ext cx="4629150" cy="3655219"/>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5293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05979"/>
            <a:ext cx="8229600" cy="85725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200150"/>
            <a:ext cx="8229600" cy="3394472"/>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4683919"/>
            <a:ext cx="2133600" cy="357188"/>
          </a:xfrm>
          <a:prstGeom prst="rect">
            <a:avLst/>
          </a:prstGeom>
          <a:noFill/>
          <a:ln w="9525">
            <a:noFill/>
          </a:ln>
        </p:spPr>
        <p:txBody>
          <a:bodyPr/>
          <a:lstStyle>
            <a:lvl1pPr>
              <a:defRPr sz="1050"/>
            </a:lvl1pPr>
          </a:lstStyle>
          <a:p>
            <a:pPr lvl="0"/>
            <a:endParaRPr lang="en-US"/>
          </a:p>
        </p:txBody>
      </p:sp>
      <p:sp>
        <p:nvSpPr>
          <p:cNvPr id="1029" name="Footer Placeholder 1028"/>
          <p:cNvSpPr>
            <a:spLocks noGrp="1"/>
          </p:cNvSpPr>
          <p:nvPr>
            <p:ph type="ftr" sz="quarter" idx="3"/>
          </p:nvPr>
        </p:nvSpPr>
        <p:spPr>
          <a:xfrm>
            <a:off x="3124200" y="4683919"/>
            <a:ext cx="2895600" cy="357188"/>
          </a:xfrm>
          <a:prstGeom prst="rect">
            <a:avLst/>
          </a:prstGeom>
          <a:noFill/>
          <a:ln w="9525">
            <a:noFill/>
          </a:ln>
        </p:spPr>
        <p:txBody>
          <a:bodyPr/>
          <a:lstStyle>
            <a:lvl1pPr algn="ctr">
              <a:defRPr sz="1050"/>
            </a:lvl1pPr>
          </a:lstStyle>
          <a:p>
            <a:pPr lvl="0"/>
            <a:endParaRPr lang="en-US"/>
          </a:p>
        </p:txBody>
      </p:sp>
      <p:sp>
        <p:nvSpPr>
          <p:cNvPr id="1030" name="Slide Number Placeholder 1029"/>
          <p:cNvSpPr>
            <a:spLocks noGrp="1"/>
          </p:cNvSpPr>
          <p:nvPr>
            <p:ph type="sldNum" sz="quarter" idx="4"/>
          </p:nvPr>
        </p:nvSpPr>
        <p:spPr>
          <a:xfrm>
            <a:off x="6553200" y="4683919"/>
            <a:ext cx="2133600" cy="357188"/>
          </a:xfrm>
          <a:prstGeom prst="rect">
            <a:avLst/>
          </a:prstGeom>
          <a:noFill/>
          <a:ln w="9525">
            <a:noFill/>
          </a:ln>
        </p:spPr>
        <p:txBody>
          <a:bodyPr/>
          <a:lstStyle>
            <a:lvl1pPr algn="r">
              <a:defRPr sz="1050"/>
            </a:lvl1pPr>
          </a:lstStyle>
          <a:p>
            <a:pPr lvl="0"/>
            <a:fld id="{9A0DB2DC-4C9A-4742-B13C-FB6460FD3503}"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sldNum="0" hdr="0" ftr="0" dt="0"/>
  <p:txStyles>
    <p:titleStyle>
      <a:lvl1pPr marL="0" lvl="0" indent="0" algn="ctr" defTabSz="685800" eaLnBrk="1" fontAlgn="base" latinLnBrk="0" hangingPunct="1">
        <a:lnSpc>
          <a:spcPct val="100000"/>
        </a:lnSpc>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lnSpc>
          <a:spcPct val="100000"/>
        </a:lnSpc>
        <a:spcBef>
          <a:spcPct val="15000"/>
        </a:spcBef>
        <a:spcAft>
          <a:spcPct val="0"/>
        </a:spcAft>
        <a:buChar char="•"/>
        <a:defRPr sz="2400" b="0" i="0" u="none" kern="1200" baseline="0">
          <a:solidFill>
            <a:schemeClr val="tx1"/>
          </a:solidFill>
          <a:latin typeface="+mn-lt"/>
          <a:ea typeface="+mn-ea"/>
          <a:cs typeface="+mn-cs"/>
        </a:defRPr>
      </a:lvl1pPr>
      <a:lvl2pPr marL="557530" lvl="1" indent="-213995" algn="l" defTabSz="685800" eaLnBrk="1" fontAlgn="base" latinLnBrk="0" hangingPunct="1">
        <a:lnSpc>
          <a:spcPct val="100000"/>
        </a:lnSpc>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1" fontAlgn="base" latinLnBrk="0" hangingPunct="1">
        <a:lnSpc>
          <a:spcPct val="100000"/>
        </a:lnSpc>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5pPr>
      <a:lvl6pPr marL="1885950" lvl="5"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6pPr>
      <a:lvl7pPr marL="2228850" lvl="6"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7pPr>
      <a:lvl8pPr marL="2571750" lvl="7"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8pPr>
      <a:lvl9pPr marL="2914650" lvl="8" indent="-171450" algn="l" defTabSz="685800" eaLnBrk="1" fontAlgn="base" latinLnBrk="0" hangingPunct="1">
        <a:lnSpc>
          <a:spcPct val="100000"/>
        </a:lnSpc>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685800" lvl="2"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028700" lvl="3"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371600" lvl="4"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1714500" lvl="5"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057400" lvl="6"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2400300" lvl="7"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2743200" lvl="8" indent="0" algn="l" defTabSz="6858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hyperlink" Target="https://scholar.google.com/scholar?hl=en&amp;as_sdt=0,5&amp;qsp=2&amp;q=type+1+gaucher%27s+disease&amp;qst=ib#d=gs_qabs&amp;t=1733151877695&amp;u=%23p%3DweYv6vcvn58J" TargetMode="External"/><Relationship Id="rId7" Type="http://schemas.openxmlformats.org/officeDocument/2006/relationships/hyperlink" Target="https://pmc.ncbi.nlm.nih.gov/articles/PMC5343975/" TargetMode="External"/><Relationship Id="rId2" Type="http://schemas.openxmlformats.org/officeDocument/2006/relationships/hyperlink" Target="https://scholar.google.com/scholar?hl=en&amp;as_sdt=0,5&amp;qsp=2&amp;q=type+1+gaucher%27s+disease&amp;qst=ib#d=gs_qabs&amp;t=1733150615188&amp;u=%23p%3D5AZl8UiLQwQJ" TargetMode="External"/><Relationship Id="rId1" Type="http://schemas.openxmlformats.org/officeDocument/2006/relationships/slideLayout" Target="../slideLayouts/slideLayout6.xml"/><Relationship Id="rId6" Type="http://schemas.openxmlformats.org/officeDocument/2006/relationships/hyperlink" Target="https://scholar.google.com/scholar?hl=en&amp;as_sdt=0%2C5&amp;q=type+1+gaucher%27s+disease+with+GBA+gene+mutations++&amp;btnG=#d=gs_qabs&amp;t=1733154330664&amp;u=%23p%3Dgek3fTQvOx8J" TargetMode="External"/><Relationship Id="rId5" Type="http://schemas.openxmlformats.org/officeDocument/2006/relationships/hyperlink" Target="https://scholar.google.com/scholar?hl=en&amp;as_sdt=0%2C5&amp;q=type+1+gaucher%27s+disease+with+GBA+gene+mutations++&amp;btnG=#d=gs_qabs&amp;t=1733152295629&amp;u=%23p%3DZSh-BG6FQMAJ" TargetMode="External"/><Relationship Id="rId4" Type="http://schemas.openxmlformats.org/officeDocument/2006/relationships/hyperlink" Target="https://www.jpeds.com/article/S0022-3476(03)00814-X/abstract"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1520011" y="78897"/>
            <a:ext cx="6465039" cy="1384974"/>
          </a:xfrm>
          <a:prstGeom prst="rect">
            <a:avLst/>
          </a:prstGeom>
        </p:spPr>
        <p:txBody>
          <a:bodyPr wrap="square" lIns="91418" tIns="45710" rIns="91418" bIns="45710" anchor="t">
            <a:spAutoFit/>
          </a:bodyPr>
          <a:lstStyle/>
          <a:p>
            <a:pPr algn="ctr"/>
            <a:r>
              <a:rPr lang="en-US" sz="3600" dirty="0">
                <a:ln w="0"/>
                <a:effectLst>
                  <a:outerShdw blurRad="38100" dist="19050" dir="2700000" algn="tl" rotWithShape="0">
                    <a:schemeClr val="dk1">
                      <a:alpha val="40000"/>
                    </a:schemeClr>
                  </a:outerShdw>
                </a:effectLst>
                <a:latin typeface="Times New Roman" panose="02020603050405020304"/>
                <a:cs typeface="Times New Roman" panose="02020603050405020304"/>
              </a:rPr>
              <a:t> </a:t>
            </a: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Department of Biotechnology</a:t>
            </a:r>
          </a:p>
          <a:p>
            <a:pPr algn="ctr"/>
            <a:r>
              <a:rPr lang="en-US" altLang="en-US" sz="2400" dirty="0">
                <a:solidFill>
                  <a:schemeClr val="tx1"/>
                </a:solidFill>
                <a:latin typeface="Times New Roman" panose="02020603050405020304" pitchFamily="18" charset="0"/>
                <a:cs typeface="Times New Roman" panose="02020603050405020304" pitchFamily="18" charset="0"/>
              </a:rPr>
              <a:t>THE OXFORD COLLEGE OF ENGINEERING</a:t>
            </a:r>
            <a:endParaRPr lang="en-US" sz="2400" dirty="0">
              <a:ln w="0"/>
              <a:solidFill>
                <a:schemeClr val="tx1"/>
              </a:solidFill>
              <a:effectLst>
                <a:outerShdw blurRad="38100" dist="19050" dir="2700000" algn="tl" rotWithShape="0">
                  <a:prstClr val="black">
                    <a:alpha val="40000"/>
                  </a:prstClr>
                </a:outerShdw>
              </a:effectLst>
              <a:latin typeface="Times New Roman" panose="02020603050405020304" pitchFamily="18" charset="0"/>
              <a:cs typeface="Times New Roman" panose="02020603050405020304" pitchFamily="18" charset="0"/>
            </a:endParaRPr>
          </a:p>
          <a:p>
            <a:pPr algn="ctr"/>
            <a:r>
              <a:rPr lang="en-US" altLang="en-US" sz="1200" dirty="0">
                <a:solidFill>
                  <a:schemeClr val="tx1"/>
                </a:solidFill>
                <a:latin typeface="Times New Roman" panose="02020603050405020304" pitchFamily="18" charset="0"/>
                <a:cs typeface="Times New Roman" panose="02020603050405020304" pitchFamily="18" charset="0"/>
              </a:rPr>
              <a:t> </a:t>
            </a:r>
            <a:r>
              <a:rPr lang="en-IN" sz="1200" dirty="0">
                <a:solidFill>
                  <a:schemeClr val="tx1"/>
                </a:solidFill>
                <a:latin typeface="Times New Roman" panose="02020603050405020304" pitchFamily="18" charset="0"/>
                <a:cs typeface="Times New Roman" panose="02020603050405020304" pitchFamily="18" charset="0"/>
              </a:rPr>
              <a:t>Bommanahalli, Bangalore-560068.</a:t>
            </a:r>
          </a:p>
          <a:p>
            <a:pPr algn="ctr">
              <a:spcAft>
                <a:spcPts val="1200"/>
              </a:spcAft>
            </a:pPr>
            <a:r>
              <a:rPr lang="en-IN" sz="1200" dirty="0">
                <a:solidFill>
                  <a:schemeClr val="tx1"/>
                </a:solidFill>
                <a:latin typeface="Times New Roman" panose="02020603050405020304" pitchFamily="18" charset="0"/>
                <a:cs typeface="Times New Roman" panose="02020603050405020304" pitchFamily="18" charset="0"/>
              </a:rPr>
              <a:t>(VTU Affiliated, AICTE Approved and NBA accredited)</a:t>
            </a:r>
            <a:endParaRPr lang="en-IN" sz="1200" b="1" dirty="0">
              <a:solidFill>
                <a:schemeClr val="tx1"/>
              </a:solidFill>
              <a:latin typeface="Times New Roman" panose="02020603050405020304" pitchFamily="18" charset="0"/>
              <a:cs typeface="Times New Roman" panose="02020603050405020304" pitchFamily="18" charset="0"/>
            </a:endParaRPr>
          </a:p>
        </p:txBody>
      </p:sp>
      <p:pic>
        <p:nvPicPr>
          <p:cNvPr id="23" name="Picture 22" descr="p3.jpg"/>
          <p:cNvPicPr>
            <a:picLocks noChangeAspect="1"/>
          </p:cNvPicPr>
          <p:nvPr/>
        </p:nvPicPr>
        <p:blipFill>
          <a:blip r:embed="rId2" cstate="print"/>
          <a:stretch>
            <a:fillRect/>
          </a:stretch>
        </p:blipFill>
        <p:spPr>
          <a:xfrm>
            <a:off x="0" y="0"/>
            <a:ext cx="1520012" cy="1539736"/>
          </a:xfrm>
          <a:prstGeom prst="rect">
            <a:avLst/>
          </a:prstGeom>
        </p:spPr>
      </p:pic>
      <p:sp>
        <p:nvSpPr>
          <p:cNvPr id="24" name="TextBox 23"/>
          <p:cNvSpPr txBox="1"/>
          <p:nvPr/>
        </p:nvSpPr>
        <p:spPr>
          <a:xfrm>
            <a:off x="2456121" y="1463871"/>
            <a:ext cx="4901609" cy="398780"/>
          </a:xfrm>
          <a:prstGeom prst="rect">
            <a:avLst/>
          </a:prstGeom>
          <a:noFill/>
        </p:spPr>
        <p:txBody>
          <a:bodyPr wrap="square" rtlCol="0">
            <a:spAutoFit/>
          </a:bodyPr>
          <a:lstStyle/>
          <a:p>
            <a:r>
              <a:rPr lang="en-IN" sz="2000" b="1" dirty="0">
                <a:solidFill>
                  <a:schemeClr val="tx1"/>
                </a:solidFill>
                <a:latin typeface="Times New Roman" panose="02020603050405020304" pitchFamily="18" charset="0"/>
                <a:cs typeface="Times New Roman" panose="02020603050405020304" pitchFamily="18" charset="0"/>
              </a:rPr>
              <a:t>PHASE II PROJECT PRESENTATION</a:t>
            </a:r>
          </a:p>
        </p:txBody>
      </p:sp>
      <p:sp>
        <p:nvSpPr>
          <p:cNvPr id="25" name="Rectangle 24"/>
          <p:cNvSpPr/>
          <p:nvPr/>
        </p:nvSpPr>
        <p:spPr>
          <a:xfrm>
            <a:off x="2456121" y="1539735"/>
            <a:ext cx="4165016" cy="1077218"/>
          </a:xfrm>
          <a:prstGeom prst="rect">
            <a:avLst/>
          </a:prstGeom>
        </p:spPr>
        <p:txBody>
          <a:bodyPr wrap="square">
            <a:spAutoFit/>
          </a:bodyPr>
          <a:lstStyle/>
          <a:p>
            <a:pPr algn="ctr"/>
            <a:endParaRPr lang="en-US" sz="1600" dirty="0">
              <a:latin typeface="Times New Roman" panose="02020603050405020304" pitchFamily="18" charset="0"/>
              <a:cs typeface="Times New Roman" panose="02020603050405020304" pitchFamily="18" charset="0"/>
            </a:endParaRPr>
          </a:p>
          <a:p>
            <a:pPr algn="ctr"/>
            <a:r>
              <a:rPr lang="en-US" sz="1600" b="1" dirty="0">
                <a:solidFill>
                  <a:schemeClr val="tx1"/>
                </a:solidFill>
                <a:latin typeface="Times New Roman" panose="02020603050405020304" pitchFamily="18" charset="0"/>
                <a:cs typeface="Times New Roman" panose="02020603050405020304" pitchFamily="18" charset="0"/>
              </a:rPr>
              <a:t>ON</a:t>
            </a:r>
          </a:p>
          <a:p>
            <a:pPr algn="ctr"/>
            <a:endParaRPr lang="en-US" sz="3200" b="1" dirty="0">
              <a:latin typeface="Times New Roman" panose="02020603050405020304" pitchFamily="18" charset="0"/>
              <a:cs typeface="Times New Roman" panose="02020603050405020304" pitchFamily="18" charset="0"/>
            </a:endParaRPr>
          </a:p>
        </p:txBody>
      </p:sp>
      <p:sp>
        <p:nvSpPr>
          <p:cNvPr id="27" name="TextBox 26"/>
          <p:cNvSpPr txBox="1"/>
          <p:nvPr/>
        </p:nvSpPr>
        <p:spPr>
          <a:xfrm>
            <a:off x="0" y="2071370"/>
            <a:ext cx="9144000" cy="1169551"/>
          </a:xfrm>
          <a:prstGeom prst="rect">
            <a:avLst/>
          </a:prstGeom>
          <a:noFill/>
        </p:spPr>
        <p:txBody>
          <a:bodyPr wrap="square" rtlCol="0">
            <a:spAutoFit/>
          </a:bodyPr>
          <a:lstStyle/>
          <a:p>
            <a:pPr algn="ctr"/>
            <a:r>
              <a:rPr lang="en-US" sz="2400" b="1" dirty="0">
                <a:solidFill>
                  <a:schemeClr val="tx1"/>
                </a:solidFill>
                <a:latin typeface="Times New Roman" panose="02020603050405020304" pitchFamily="18" charset="0"/>
                <a:cs typeface="Times New Roman" panose="02020603050405020304" pitchFamily="18" charset="0"/>
              </a:rPr>
              <a:t>Identification of Deleterious SNPs and Their Effects on Structural        Level  in GBA1 Gene</a:t>
            </a:r>
          </a:p>
          <a:p>
            <a:pPr algn="ctr"/>
            <a:endParaRPr lang="en-IN" sz="22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8" name="Rectangle 27"/>
          <p:cNvSpPr/>
          <p:nvPr/>
        </p:nvSpPr>
        <p:spPr>
          <a:xfrm>
            <a:off x="2711302" y="2902677"/>
            <a:ext cx="3498113" cy="1506855"/>
          </a:xfrm>
          <a:prstGeom prst="rect">
            <a:avLst/>
          </a:prstGeom>
        </p:spPr>
        <p:txBody>
          <a:bodyPr wrap="square">
            <a:spAutoFit/>
          </a:bodyPr>
          <a:lstStyle/>
          <a:p>
            <a:pPr algn="ctr"/>
            <a:r>
              <a:rPr lang="en-US" sz="1800" b="1" dirty="0">
                <a:solidFill>
                  <a:schemeClr val="tx1"/>
                </a:solidFill>
                <a:latin typeface="Times New Roman" panose="02020603050405020304" pitchFamily="18" charset="0"/>
                <a:ea typeface="Calibri" panose="020F0502020204030204" pitchFamily="34" charset="0"/>
                <a:cs typeface="Tunga" panose="020B0502040204020203" pitchFamily="34" charset="0"/>
              </a:rPr>
              <a:t>Presented by:</a:t>
            </a:r>
          </a:p>
          <a:p>
            <a:pPr algn="ctr"/>
            <a:r>
              <a:rPr lang="en-IN" altLang="en-US" sz="1800" dirty="0">
                <a:solidFill>
                  <a:schemeClr val="tx1"/>
                </a:solidFill>
                <a:latin typeface="Times New Roman" panose="02020603050405020304" pitchFamily="18" charset="0"/>
                <a:ea typeface="Calibri" panose="020F0502020204030204" pitchFamily="34" charset="0"/>
                <a:cs typeface="Tunga" panose="020B0502040204020203" pitchFamily="34" charset="0"/>
              </a:rPr>
              <a:t>Gagan KC</a:t>
            </a:r>
            <a:r>
              <a:rPr lang="en-US" sz="1800" dirty="0">
                <a:solidFill>
                  <a:schemeClr val="tx1"/>
                </a:solidFill>
                <a:latin typeface="Times New Roman" panose="02020603050405020304" pitchFamily="18" charset="0"/>
                <a:ea typeface="Calibri" panose="020F0502020204030204" pitchFamily="34" charset="0"/>
                <a:cs typeface="Tunga" panose="020B0502040204020203" pitchFamily="34" charset="0"/>
              </a:rPr>
              <a:t> (1OX2</a:t>
            </a:r>
            <a:r>
              <a:rPr lang="en-IN" altLang="en-US" sz="1800" dirty="0">
                <a:solidFill>
                  <a:schemeClr val="tx1"/>
                </a:solidFill>
                <a:latin typeface="Times New Roman" panose="02020603050405020304" pitchFamily="18" charset="0"/>
                <a:ea typeface="Calibri" panose="020F0502020204030204" pitchFamily="34" charset="0"/>
                <a:cs typeface="Tunga" panose="020B0502040204020203" pitchFamily="34" charset="0"/>
              </a:rPr>
              <a:t>1BT009</a:t>
            </a:r>
            <a:r>
              <a:rPr lang="en-US" sz="1800" dirty="0">
                <a:solidFill>
                  <a:schemeClr val="tx1"/>
                </a:solidFill>
                <a:latin typeface="Times New Roman" panose="02020603050405020304" pitchFamily="18" charset="0"/>
                <a:ea typeface="Calibri" panose="020F0502020204030204" pitchFamily="34" charset="0"/>
                <a:cs typeface="Tunga" panose="020B0502040204020203" pitchFamily="34" charset="0"/>
              </a:rPr>
              <a:t>)</a:t>
            </a:r>
          </a:p>
          <a:p>
            <a:pPr algn="ctr"/>
            <a:r>
              <a:rPr lang="en-IN" altLang="en-US" sz="1800" dirty="0">
                <a:solidFill>
                  <a:schemeClr val="tx1"/>
                </a:solidFill>
                <a:latin typeface="Times New Roman" panose="02020603050405020304" pitchFamily="18" charset="0"/>
                <a:ea typeface="Calibri" panose="020F0502020204030204" pitchFamily="34" charset="0"/>
                <a:cs typeface="Tunga" panose="020B0502040204020203" pitchFamily="34" charset="0"/>
              </a:rPr>
              <a:t>Govindaraju HN</a:t>
            </a:r>
            <a:r>
              <a:rPr lang="en-US" sz="1800" dirty="0">
                <a:solidFill>
                  <a:schemeClr val="tx1"/>
                </a:solidFill>
                <a:latin typeface="Times New Roman" panose="02020603050405020304" pitchFamily="18" charset="0"/>
                <a:ea typeface="Calibri" panose="020F0502020204030204" pitchFamily="34" charset="0"/>
                <a:cs typeface="Tunga" panose="020B0502040204020203" pitchFamily="34" charset="0"/>
              </a:rPr>
              <a:t> (1OX2</a:t>
            </a:r>
            <a:r>
              <a:rPr lang="en-IN" altLang="en-US" sz="1800" dirty="0">
                <a:solidFill>
                  <a:schemeClr val="tx1"/>
                </a:solidFill>
                <a:latin typeface="Times New Roman" panose="02020603050405020304" pitchFamily="18" charset="0"/>
                <a:ea typeface="Calibri" panose="020F0502020204030204" pitchFamily="34" charset="0"/>
                <a:cs typeface="Tunga" panose="020B0502040204020203" pitchFamily="34" charset="0"/>
              </a:rPr>
              <a:t>1</a:t>
            </a:r>
            <a:r>
              <a:rPr lang="en-US" sz="1800" dirty="0">
                <a:solidFill>
                  <a:schemeClr val="tx1"/>
                </a:solidFill>
                <a:latin typeface="Times New Roman" panose="02020603050405020304" pitchFamily="18" charset="0"/>
                <a:ea typeface="Calibri" panose="020F0502020204030204" pitchFamily="34" charset="0"/>
                <a:cs typeface="Tunga" panose="020B0502040204020203" pitchFamily="34" charset="0"/>
              </a:rPr>
              <a:t>BT01</a:t>
            </a:r>
            <a:r>
              <a:rPr lang="en-IN" altLang="en-US" sz="1800" dirty="0">
                <a:solidFill>
                  <a:schemeClr val="tx1"/>
                </a:solidFill>
                <a:latin typeface="Times New Roman" panose="02020603050405020304" pitchFamily="18" charset="0"/>
                <a:ea typeface="Calibri" panose="020F0502020204030204" pitchFamily="34" charset="0"/>
                <a:cs typeface="Tunga" panose="020B0502040204020203" pitchFamily="34" charset="0"/>
              </a:rPr>
              <a:t>0</a:t>
            </a:r>
            <a:r>
              <a:rPr lang="en-US" sz="1800" dirty="0">
                <a:solidFill>
                  <a:schemeClr val="tx1"/>
                </a:solidFill>
                <a:latin typeface="Times New Roman" panose="02020603050405020304" pitchFamily="18" charset="0"/>
                <a:ea typeface="Calibri" panose="020F0502020204030204" pitchFamily="34" charset="0"/>
                <a:cs typeface="Tunga" panose="020B0502040204020203" pitchFamily="34" charset="0"/>
              </a:rPr>
              <a:t>)</a:t>
            </a:r>
          </a:p>
          <a:p>
            <a:pPr algn="ctr"/>
            <a:r>
              <a:rPr lang="en-IN" sz="1800" dirty="0">
                <a:solidFill>
                  <a:schemeClr val="tx1"/>
                </a:solidFill>
                <a:latin typeface="Times New Roman" panose="02020603050405020304" pitchFamily="18" charset="0"/>
                <a:cs typeface="Times New Roman" panose="02020603050405020304" pitchFamily="18" charset="0"/>
              </a:rPr>
              <a:t>Harini R(1OX21BT011)</a:t>
            </a:r>
          </a:p>
          <a:p>
            <a:pPr algn="ctr"/>
            <a:r>
              <a:rPr lang="en-IN" altLang="en-US" sz="2000" dirty="0">
                <a:latin typeface="Times New Roman" panose="02020603050405020304" pitchFamily="18" charset="0"/>
                <a:ea typeface="Calibri" panose="020F0502020204030204" pitchFamily="34" charset="0"/>
                <a:cs typeface="Tunga" panose="020B0502040204020203" pitchFamily="34" charset="0"/>
              </a:rPr>
              <a:t>Kowshalya C(1OX21BT015)</a:t>
            </a:r>
          </a:p>
        </p:txBody>
      </p:sp>
      <p:sp>
        <p:nvSpPr>
          <p:cNvPr id="29" name="Rectangle 28"/>
          <p:cNvSpPr/>
          <p:nvPr/>
        </p:nvSpPr>
        <p:spPr>
          <a:xfrm>
            <a:off x="297712" y="3827721"/>
            <a:ext cx="2398680" cy="953135"/>
          </a:xfrm>
          <a:prstGeom prst="rect">
            <a:avLst/>
          </a:prstGeom>
        </p:spPr>
        <p:txBody>
          <a:bodyPr wrap="square">
            <a:spAutoFit/>
          </a:bodyPr>
          <a:lstStyle/>
          <a:p>
            <a:pPr algn="ctr"/>
            <a:r>
              <a:rPr lang="en-US" b="1" dirty="0">
                <a:solidFill>
                  <a:schemeClr val="tx1"/>
                </a:solidFill>
                <a:latin typeface="Times New Roman" panose="02020603050405020304" pitchFamily="18" charset="0"/>
                <a:ea typeface="Calibri" panose="020F0502020204030204" pitchFamily="34" charset="0"/>
                <a:cs typeface="Tunga" panose="020B0502040204020203" pitchFamily="34" charset="0"/>
              </a:rPr>
              <a:t> Guide:                                                                                                                              </a:t>
            </a:r>
          </a:p>
          <a:p>
            <a:pPr algn="ctr"/>
            <a:r>
              <a:rPr lang="en-US" dirty="0">
                <a:solidFill>
                  <a:schemeClr val="tx1"/>
                </a:solidFill>
                <a:latin typeface="Times New Roman" panose="02020603050405020304" pitchFamily="18" charset="0"/>
                <a:cs typeface="Times New Roman" panose="02020603050405020304" pitchFamily="18" charset="0"/>
              </a:rPr>
              <a:t>Dr.</a:t>
            </a:r>
            <a:r>
              <a:rPr lang="en-IN" altLang="en-US" dirty="0">
                <a:solidFill>
                  <a:schemeClr val="tx1"/>
                </a:solidFill>
                <a:latin typeface="Times New Roman" panose="02020603050405020304" pitchFamily="18" charset="0"/>
                <a:cs typeface="Times New Roman" panose="02020603050405020304" pitchFamily="18" charset="0"/>
              </a:rPr>
              <a:t> Amulya Giridasappa</a:t>
            </a: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Associate Professor</a:t>
            </a:r>
          </a:p>
          <a:p>
            <a:pPr algn="ctr"/>
            <a:r>
              <a:rPr lang="en-US" dirty="0">
                <a:solidFill>
                  <a:schemeClr val="tx1"/>
                </a:solidFill>
                <a:latin typeface="Times New Roman" panose="02020603050405020304" pitchFamily="18" charset="0"/>
                <a:cs typeface="Times New Roman" panose="02020603050405020304" pitchFamily="18" charset="0"/>
              </a:rPr>
              <a:t>Dept. of Biotechnology</a:t>
            </a:r>
          </a:p>
        </p:txBody>
      </p:sp>
      <p:sp>
        <p:nvSpPr>
          <p:cNvPr id="30" name="TextBox 29"/>
          <p:cNvSpPr txBox="1"/>
          <p:nvPr/>
        </p:nvSpPr>
        <p:spPr>
          <a:xfrm>
            <a:off x="6621137" y="3895052"/>
            <a:ext cx="2225151" cy="1169551"/>
          </a:xfrm>
          <a:prstGeom prst="rect">
            <a:avLst/>
          </a:prstGeom>
          <a:noFill/>
        </p:spPr>
        <p:txBody>
          <a:bodyPr wrap="square" rtlCol="0">
            <a:spAutoFit/>
          </a:bodyPr>
          <a:lstStyle/>
          <a:p>
            <a:pPr algn="ctr"/>
            <a:r>
              <a:rPr lang="en-US" b="1" dirty="0">
                <a:solidFill>
                  <a:schemeClr val="tx1"/>
                </a:solidFill>
                <a:latin typeface="Times New Roman" panose="02020603050405020304" pitchFamily="18" charset="0"/>
                <a:ea typeface="Calibri" panose="020F0502020204030204" pitchFamily="34" charset="0"/>
                <a:cs typeface="Tunga" panose="020B0502040204020203" pitchFamily="34" charset="0"/>
              </a:rPr>
              <a:t>Head of the Department:</a:t>
            </a:r>
          </a:p>
          <a:p>
            <a:pPr algn="ctr"/>
            <a:r>
              <a:rPr lang="en-US" dirty="0">
                <a:solidFill>
                  <a:schemeClr val="tx1"/>
                </a:solidFill>
                <a:latin typeface="Times New Roman" panose="02020603050405020304" pitchFamily="18" charset="0"/>
                <a:ea typeface="Calibri" panose="020F0502020204030204" pitchFamily="34" charset="0"/>
                <a:cs typeface="Tunga" panose="020B0502040204020203" pitchFamily="34" charset="0"/>
              </a:rPr>
              <a:t>Dr. B K Manjunath</a:t>
            </a:r>
          </a:p>
          <a:p>
            <a:pPr algn="ctr"/>
            <a:r>
              <a:rPr lang="en-IN" dirty="0">
                <a:solidFill>
                  <a:schemeClr val="tx1"/>
                </a:solidFill>
                <a:latin typeface="Times New Roman" panose="02020603050405020304" pitchFamily="18" charset="0"/>
                <a:cs typeface="Times New Roman" panose="02020603050405020304" pitchFamily="18" charset="0"/>
              </a:rPr>
              <a:t>Professor &amp; Head             </a:t>
            </a:r>
            <a:r>
              <a:rPr lang="en-IN"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Dept. of Biotechnology</a:t>
            </a:r>
            <a:endParaRPr lang="en-US"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57250"/>
          </a:xfrm>
        </p:spPr>
        <p:txBody>
          <a:bodyPr/>
          <a:lstStyle/>
          <a:p>
            <a:r>
              <a:rPr lang="en-I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CONTENTS</a:t>
            </a:r>
          </a:p>
        </p:txBody>
      </p:sp>
      <p:graphicFrame>
        <p:nvGraphicFramePr>
          <p:cNvPr id="3" name="Table 2"/>
          <p:cNvGraphicFramePr/>
          <p:nvPr>
            <p:extLst>
              <p:ext uri="{D42A27DB-BD31-4B8C-83A1-F6EECF244321}">
                <p14:modId xmlns:p14="http://schemas.microsoft.com/office/powerpoint/2010/main" val="3549923029"/>
              </p:ext>
            </p:extLst>
          </p:nvPr>
        </p:nvGraphicFramePr>
        <p:xfrm>
          <a:off x="1097231" y="857250"/>
          <a:ext cx="7258926" cy="4010296"/>
        </p:xfrm>
        <a:graphic>
          <a:graphicData uri="http://schemas.openxmlformats.org/drawingml/2006/table">
            <a:tbl>
              <a:tblPr firstRow="1" bandRow="1">
                <a:tableStyleId>{5940675A-B579-460E-94D1-54222C63F5DA}</a:tableStyleId>
              </a:tblPr>
              <a:tblGrid>
                <a:gridCol w="1730991">
                  <a:extLst>
                    <a:ext uri="{9D8B030D-6E8A-4147-A177-3AD203B41FA5}">
                      <a16:colId xmlns:a16="http://schemas.microsoft.com/office/drawing/2014/main" val="20000"/>
                    </a:ext>
                  </a:extLst>
                </a:gridCol>
                <a:gridCol w="4023853">
                  <a:extLst>
                    <a:ext uri="{9D8B030D-6E8A-4147-A177-3AD203B41FA5}">
                      <a16:colId xmlns:a16="http://schemas.microsoft.com/office/drawing/2014/main" val="20001"/>
                    </a:ext>
                  </a:extLst>
                </a:gridCol>
                <a:gridCol w="1504082">
                  <a:extLst>
                    <a:ext uri="{9D8B030D-6E8A-4147-A177-3AD203B41FA5}">
                      <a16:colId xmlns:a16="http://schemas.microsoft.com/office/drawing/2014/main" val="20002"/>
                    </a:ext>
                  </a:extLst>
                </a:gridCol>
              </a:tblGrid>
              <a:tr h="501287">
                <a:tc>
                  <a:txBody>
                    <a:bodyPr/>
                    <a:lstStyle/>
                    <a:p>
                      <a:pPr algn="ctr">
                        <a:buNone/>
                      </a:pPr>
                      <a:r>
                        <a:rPr lang="en-IN" altLang="en-US">
                          <a:latin typeface="Times New Roman" panose="02020603050405020304" pitchFamily="18" charset="0"/>
                          <a:cs typeface="Times New Roman" panose="02020603050405020304" pitchFamily="18" charset="0"/>
                        </a:rPr>
                        <a:t>CHAPTER NO</a:t>
                      </a:r>
                    </a:p>
                  </a:txBody>
                  <a:tcPr/>
                </a:tc>
                <a:tc>
                  <a:txBody>
                    <a:bodyPr/>
                    <a:lstStyle/>
                    <a:p>
                      <a:pPr algn="ctr">
                        <a:buNone/>
                      </a:pPr>
                      <a:r>
                        <a:rPr lang="en-IN" altLang="en-US">
                          <a:latin typeface="Times New Roman" panose="02020603050405020304" pitchFamily="18" charset="0"/>
                          <a:cs typeface="Times New Roman" panose="02020603050405020304" pitchFamily="18" charset="0"/>
                        </a:rPr>
                        <a:t>CHAPTER TITLE</a:t>
                      </a:r>
                    </a:p>
                  </a:txBody>
                  <a:tcPr/>
                </a:tc>
                <a:tc>
                  <a:txBody>
                    <a:bodyPr/>
                    <a:lstStyle/>
                    <a:p>
                      <a:pPr algn="ctr">
                        <a:buNone/>
                      </a:pPr>
                      <a:r>
                        <a:rPr lang="en-IN" altLang="en-US">
                          <a:latin typeface="Times New Roman" panose="02020603050405020304" pitchFamily="18" charset="0"/>
                          <a:cs typeface="Times New Roman" panose="02020603050405020304" pitchFamily="18" charset="0"/>
                        </a:rPr>
                        <a:t>PAGE NO</a:t>
                      </a:r>
                    </a:p>
                  </a:txBody>
                  <a:tcPr/>
                </a:tc>
                <a:extLst>
                  <a:ext uri="{0D108BD9-81ED-4DB2-BD59-A6C34878D82A}">
                    <a16:rowId xmlns:a16="http://schemas.microsoft.com/office/drawing/2014/main" val="10000"/>
                  </a:ext>
                </a:extLst>
              </a:tr>
              <a:tr h="501287">
                <a:tc>
                  <a:txBody>
                    <a:bodyPr/>
                    <a:lstStyle/>
                    <a:p>
                      <a:pPr algn="ctr">
                        <a:buNone/>
                      </a:pPr>
                      <a:r>
                        <a:rPr lang="en-IN" altLang="en-US">
                          <a:latin typeface="Times New Roman" panose="02020603050405020304" pitchFamily="18" charset="0"/>
                          <a:cs typeface="Times New Roman" panose="02020603050405020304" pitchFamily="18" charset="0"/>
                        </a:rPr>
                        <a:t>1</a:t>
                      </a:r>
                    </a:p>
                  </a:txBody>
                  <a:tcPr/>
                </a:tc>
                <a:tc>
                  <a:txBody>
                    <a:bodyPr/>
                    <a:lstStyle/>
                    <a:p>
                      <a:pPr>
                        <a:buNone/>
                      </a:pPr>
                      <a:r>
                        <a:rPr lang="en-IN" altLang="en-US" dirty="0">
                          <a:latin typeface="Times New Roman" panose="02020603050405020304" pitchFamily="18" charset="0"/>
                          <a:cs typeface="Times New Roman" panose="02020603050405020304" pitchFamily="18" charset="0"/>
                        </a:rPr>
                        <a:t>ABSTRACT</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3-4</a:t>
                      </a:r>
                    </a:p>
                  </a:txBody>
                  <a:tcPr/>
                </a:tc>
                <a:extLst>
                  <a:ext uri="{0D108BD9-81ED-4DB2-BD59-A6C34878D82A}">
                    <a16:rowId xmlns:a16="http://schemas.microsoft.com/office/drawing/2014/main" val="10001"/>
                  </a:ext>
                </a:extLst>
              </a:tr>
              <a:tr h="501287">
                <a:tc>
                  <a:txBody>
                    <a:bodyPr/>
                    <a:lstStyle/>
                    <a:p>
                      <a:pPr algn="ctr">
                        <a:buNone/>
                      </a:pPr>
                      <a:r>
                        <a:rPr lang="en-IN" altLang="en-US">
                          <a:latin typeface="Times New Roman" panose="02020603050405020304" pitchFamily="18" charset="0"/>
                          <a:cs typeface="Times New Roman" panose="02020603050405020304" pitchFamily="18" charset="0"/>
                        </a:rPr>
                        <a:t>2</a:t>
                      </a:r>
                    </a:p>
                  </a:txBody>
                  <a:tcPr/>
                </a:tc>
                <a:tc>
                  <a:txBody>
                    <a:bodyPr/>
                    <a:lstStyle/>
                    <a:p>
                      <a:pPr>
                        <a:buNone/>
                      </a:pPr>
                      <a:r>
                        <a:rPr lang="en-IN" altLang="en-US" sz="1350">
                          <a:latin typeface="Times New Roman" panose="02020603050405020304" pitchFamily="18" charset="0"/>
                          <a:cs typeface="Times New Roman" panose="02020603050405020304" pitchFamily="18" charset="0"/>
                          <a:sym typeface="+mn-ea"/>
                        </a:rPr>
                        <a:t>INTRODUCTION</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5-13</a:t>
                      </a:r>
                    </a:p>
                  </a:txBody>
                  <a:tcPr/>
                </a:tc>
                <a:extLst>
                  <a:ext uri="{0D108BD9-81ED-4DB2-BD59-A6C34878D82A}">
                    <a16:rowId xmlns:a16="http://schemas.microsoft.com/office/drawing/2014/main" val="10002"/>
                  </a:ext>
                </a:extLst>
              </a:tr>
              <a:tr h="501287">
                <a:tc>
                  <a:txBody>
                    <a:bodyPr/>
                    <a:lstStyle/>
                    <a:p>
                      <a:pPr algn="ctr">
                        <a:buNone/>
                      </a:pPr>
                      <a:r>
                        <a:rPr lang="en-IN" altLang="en-US">
                          <a:latin typeface="Times New Roman" panose="02020603050405020304" pitchFamily="18" charset="0"/>
                          <a:cs typeface="Times New Roman" panose="02020603050405020304" pitchFamily="18" charset="0"/>
                        </a:rPr>
                        <a:t>3</a:t>
                      </a:r>
                    </a:p>
                  </a:txBody>
                  <a:tcPr/>
                </a:tc>
                <a:tc>
                  <a:txBody>
                    <a:bodyPr/>
                    <a:lstStyle/>
                    <a:p>
                      <a:pPr>
                        <a:buNone/>
                      </a:pPr>
                      <a:r>
                        <a:rPr lang="en-IN" altLang="en-US" sz="1350">
                          <a:latin typeface="Times New Roman" panose="02020603050405020304" pitchFamily="18" charset="0"/>
                          <a:cs typeface="Times New Roman" panose="02020603050405020304" pitchFamily="18" charset="0"/>
                          <a:sym typeface="+mn-ea"/>
                        </a:rPr>
                        <a:t>LITERATURE REVIEW</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14-19</a:t>
                      </a:r>
                    </a:p>
                  </a:txBody>
                  <a:tcPr/>
                </a:tc>
                <a:extLst>
                  <a:ext uri="{0D108BD9-81ED-4DB2-BD59-A6C34878D82A}">
                    <a16:rowId xmlns:a16="http://schemas.microsoft.com/office/drawing/2014/main" val="10003"/>
                  </a:ext>
                </a:extLst>
              </a:tr>
              <a:tr h="501287">
                <a:tc>
                  <a:txBody>
                    <a:bodyPr/>
                    <a:lstStyle/>
                    <a:p>
                      <a:pPr algn="ctr">
                        <a:buNone/>
                      </a:pPr>
                      <a:r>
                        <a:rPr lang="en-IN" altLang="en-US" dirty="0">
                          <a:latin typeface="Times New Roman" panose="02020603050405020304" pitchFamily="18" charset="0"/>
                          <a:cs typeface="Times New Roman" panose="02020603050405020304" pitchFamily="18" charset="0"/>
                        </a:rPr>
                        <a:t>4</a:t>
                      </a:r>
                    </a:p>
                  </a:txBody>
                  <a:tcPr/>
                </a:tc>
                <a:tc>
                  <a:txBody>
                    <a:bodyPr/>
                    <a:lstStyle/>
                    <a:p>
                      <a:pPr>
                        <a:buNone/>
                      </a:pPr>
                      <a:r>
                        <a:rPr lang="en-IN" altLang="en-US" dirty="0">
                          <a:latin typeface="Times New Roman" panose="02020603050405020304" pitchFamily="18" charset="0"/>
                          <a:cs typeface="Times New Roman" panose="02020603050405020304" pitchFamily="18" charset="0"/>
                        </a:rPr>
                        <a:t>OBJECTIVES</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20-21</a:t>
                      </a:r>
                    </a:p>
                  </a:txBody>
                  <a:tcPr/>
                </a:tc>
                <a:extLst>
                  <a:ext uri="{0D108BD9-81ED-4DB2-BD59-A6C34878D82A}">
                    <a16:rowId xmlns:a16="http://schemas.microsoft.com/office/drawing/2014/main" val="10005"/>
                  </a:ext>
                </a:extLst>
              </a:tr>
              <a:tr h="501287">
                <a:tc>
                  <a:txBody>
                    <a:bodyPr/>
                    <a:lstStyle/>
                    <a:p>
                      <a:pPr algn="ctr">
                        <a:buNone/>
                      </a:pPr>
                      <a:r>
                        <a:rPr lang="en-IN" altLang="en-US" dirty="0">
                          <a:latin typeface="Times New Roman" panose="02020603050405020304" pitchFamily="18" charset="0"/>
                          <a:cs typeface="Times New Roman" panose="02020603050405020304" pitchFamily="18" charset="0"/>
                        </a:rPr>
                        <a:t>5</a:t>
                      </a:r>
                    </a:p>
                  </a:txBody>
                  <a:tcPr/>
                </a:tc>
                <a:tc>
                  <a:txBody>
                    <a:bodyPr/>
                    <a:lstStyle/>
                    <a:p>
                      <a:pPr>
                        <a:buNone/>
                      </a:pPr>
                      <a:r>
                        <a:rPr lang="en-IN" altLang="en-US" dirty="0">
                          <a:latin typeface="Times New Roman" panose="02020603050405020304" pitchFamily="18" charset="0"/>
                          <a:cs typeface="Times New Roman" panose="02020603050405020304" pitchFamily="18" charset="0"/>
                        </a:rPr>
                        <a:t>METHODOLOGY</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22-50</a:t>
                      </a:r>
                    </a:p>
                  </a:txBody>
                  <a:tcPr/>
                </a:tc>
                <a:extLst>
                  <a:ext uri="{0D108BD9-81ED-4DB2-BD59-A6C34878D82A}">
                    <a16:rowId xmlns:a16="http://schemas.microsoft.com/office/drawing/2014/main" val="10006"/>
                  </a:ext>
                </a:extLst>
              </a:tr>
              <a:tr h="501287">
                <a:tc>
                  <a:txBody>
                    <a:bodyPr/>
                    <a:lstStyle/>
                    <a:p>
                      <a:pPr algn="ctr">
                        <a:buNone/>
                      </a:pPr>
                      <a:r>
                        <a:rPr lang="en-IN" altLang="en-US" dirty="0">
                          <a:latin typeface="Times New Roman" panose="02020603050405020304" pitchFamily="18" charset="0"/>
                          <a:cs typeface="Times New Roman" panose="02020603050405020304" pitchFamily="18" charset="0"/>
                        </a:rPr>
                        <a:t>6</a:t>
                      </a:r>
                    </a:p>
                  </a:txBody>
                  <a:tcPr/>
                </a:tc>
                <a:tc>
                  <a:txBody>
                    <a:bodyPr/>
                    <a:lstStyle/>
                    <a:p>
                      <a:pPr>
                        <a:buNone/>
                      </a:pPr>
                      <a:r>
                        <a:rPr lang="en-IN" altLang="en-US" dirty="0">
                          <a:latin typeface="Times New Roman" panose="02020603050405020304" pitchFamily="18" charset="0"/>
                          <a:cs typeface="Times New Roman" panose="02020603050405020304" pitchFamily="18" charset="0"/>
                        </a:rPr>
                        <a:t>RESULTS </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51-60</a:t>
                      </a:r>
                    </a:p>
                  </a:txBody>
                  <a:tcPr/>
                </a:tc>
                <a:extLst>
                  <a:ext uri="{0D108BD9-81ED-4DB2-BD59-A6C34878D82A}">
                    <a16:rowId xmlns:a16="http://schemas.microsoft.com/office/drawing/2014/main" val="10007"/>
                  </a:ext>
                </a:extLst>
              </a:tr>
              <a:tr h="501287">
                <a:tc>
                  <a:txBody>
                    <a:bodyPr/>
                    <a:lstStyle/>
                    <a:p>
                      <a:pPr algn="ctr">
                        <a:buNone/>
                      </a:pPr>
                      <a:r>
                        <a:rPr lang="en-IN" altLang="en-US" dirty="0">
                          <a:latin typeface="Times New Roman" panose="02020603050405020304" pitchFamily="18" charset="0"/>
                          <a:cs typeface="Times New Roman" panose="02020603050405020304" pitchFamily="18" charset="0"/>
                        </a:rPr>
                        <a:t>7</a:t>
                      </a:r>
                    </a:p>
                  </a:txBody>
                  <a:tcPr/>
                </a:tc>
                <a:tc>
                  <a:txBody>
                    <a:bodyPr/>
                    <a:lstStyle/>
                    <a:p>
                      <a:pPr>
                        <a:buNone/>
                      </a:pPr>
                      <a:r>
                        <a:rPr lang="en-IN" altLang="en-US" dirty="0">
                          <a:latin typeface="Times New Roman" panose="02020603050405020304" pitchFamily="18" charset="0"/>
                          <a:cs typeface="Times New Roman" panose="02020603050405020304" pitchFamily="18" charset="0"/>
                        </a:rPr>
                        <a:t>REFERENCES</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61-62</a:t>
                      </a:r>
                    </a:p>
                  </a:txBody>
                  <a:tcPr/>
                </a:tc>
                <a:extLst>
                  <a:ext uri="{0D108BD9-81ED-4DB2-BD59-A6C34878D82A}">
                    <a16:rowId xmlns:a16="http://schemas.microsoft.com/office/drawing/2014/main" val="161020221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767EE-9D06-6E61-DF77-C2029D8BF5A8}"/>
              </a:ext>
            </a:extLst>
          </p:cNvPr>
          <p:cNvSpPr>
            <a:spLocks noGrp="1"/>
          </p:cNvSpPr>
          <p:nvPr>
            <p:ph type="title"/>
          </p:nvPr>
        </p:nvSpPr>
        <p:spPr>
          <a:xfrm>
            <a:off x="457200" y="2143125"/>
            <a:ext cx="8229600" cy="857250"/>
          </a:xfrm>
        </p:spPr>
        <p:txBody>
          <a:bodyPr/>
          <a:lstStyle/>
          <a:p>
            <a:r>
              <a:rPr lang="en-US" b="1" dirty="0">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2288220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56B38-A3DC-37E5-5E49-EF4291899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711CA-8160-F423-49B7-0104111929C6}"/>
              </a:ext>
            </a:extLst>
          </p:cNvPr>
          <p:cNvSpPr>
            <a:spLocks noGrp="1"/>
          </p:cNvSpPr>
          <p:nvPr>
            <p:ph type="title"/>
          </p:nvPr>
        </p:nvSpPr>
        <p:spPr>
          <a:xfrm>
            <a:off x="416288" y="10036"/>
            <a:ext cx="8229600" cy="857250"/>
          </a:xfrm>
        </p:spPr>
        <p:txBody>
          <a:bodyPr/>
          <a:lstStyle/>
          <a:p>
            <a:r>
              <a:rPr lang="en-I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ABSTRACT</a:t>
            </a:r>
          </a:p>
        </p:txBody>
      </p:sp>
      <p:sp>
        <p:nvSpPr>
          <p:cNvPr id="3" name="Text Box 2">
            <a:extLst>
              <a:ext uri="{FF2B5EF4-FFF2-40B4-BE49-F238E27FC236}">
                <a16:creationId xmlns:a16="http://schemas.microsoft.com/office/drawing/2014/main" id="{2443C3F9-22BC-1EB6-5EC6-FFBA0C56482C}"/>
              </a:ext>
            </a:extLst>
          </p:cNvPr>
          <p:cNvSpPr txBox="1"/>
          <p:nvPr/>
        </p:nvSpPr>
        <p:spPr>
          <a:xfrm>
            <a:off x="375602" y="752986"/>
            <a:ext cx="8352110" cy="4031873"/>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The aim of our study is to identify probable deleterious genetic variations that can alter the expression and the function of the GBA1 gene using in silico methods. Of the 4922 SNPs identified in the GBA1 gene,530 were found to be missense. </a:t>
            </a:r>
          </a:p>
          <a:p>
            <a:pPr algn="just"/>
            <a:r>
              <a:rPr lang="en-US" sz="1600" dirty="0">
                <a:latin typeface="Times New Roman" panose="02020603050405020304" pitchFamily="18" charset="0"/>
                <a:cs typeface="Times New Roman" panose="02020603050405020304" pitchFamily="18" charset="0"/>
              </a:rPr>
              <a:t>The missense SNPs were recorded with their genetic mutations and tested for their effect on the disease with various sequence-based software's like PolyPhen-2, SNP&amp; GO, FATHMM, PhD-SNP, SNAP, SIFT, PANTHER, META-SNP to predict the major mutations that affect the structure of the protein. Further theses major mutations are tested for their effect on the disease with few structure-based software's like </a:t>
            </a:r>
            <a:r>
              <a:rPr lang="en-IN" sz="1600" dirty="0">
                <a:latin typeface="Times New Roman" panose="02020603050405020304" pitchFamily="18" charset="0"/>
                <a:cs typeface="Times New Roman" panose="02020603050405020304" pitchFamily="18" charset="0"/>
                <a:sym typeface="+mn-ea"/>
              </a:rPr>
              <a:t>Mupro, I-MUTANT, I STABLE, DUET, DynaMut2</a:t>
            </a:r>
            <a:r>
              <a:rPr lang="en-US" sz="1600" dirty="0">
                <a:latin typeface="Times New Roman" panose="02020603050405020304" pitchFamily="18" charset="0"/>
                <a:cs typeface="Times New Roman" panose="02020603050405020304" pitchFamily="18" charset="0"/>
              </a:rPr>
              <a:t> . The major mutations predicted to affect the structure of the protein by the trajectory run in molecular dynamics studies. The random transition of the protein structures over the simulation period caused by these mutations hints at how the native state is distorted which could lead to the loss of structural stability and functionality. Based on this work, we can propose the SNP which will have comparatively more deleterious effects than the other predicted mutations in destabilizing the protein structure.</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Keywords</a:t>
            </a:r>
            <a:r>
              <a:rPr lang="en-US" sz="1600" dirty="0">
                <a:latin typeface="Times New Roman" panose="02020603050405020304" pitchFamily="18" charset="0"/>
                <a:cs typeface="Times New Roman" panose="02020603050405020304" pitchFamily="18" charset="0"/>
              </a:rPr>
              <a:t>: GBA1 , PolyPhen-2, SNP&amp; GO, FATHMM, PhD-SNP, SNAP, SIFT, PANTHER, META-SNP,</a:t>
            </a:r>
            <a:r>
              <a:rPr lang="en-IN" sz="1600" dirty="0">
                <a:latin typeface="Times New Roman" panose="02020603050405020304" pitchFamily="18" charset="0"/>
                <a:cs typeface="Times New Roman" panose="02020603050405020304" pitchFamily="18" charset="0"/>
                <a:sym typeface="+mn-ea"/>
              </a:rPr>
              <a:t> Mupro, I-MUTANT, I STABLE,DUET,DynaMut2,</a:t>
            </a:r>
            <a:r>
              <a:rPr lang="en-US" sz="1600" dirty="0">
                <a:latin typeface="Times New Roman" panose="02020603050405020304" pitchFamily="18" charset="0"/>
                <a:cs typeface="Times New Roman" panose="02020603050405020304" pitchFamily="18" charset="0"/>
              </a:rPr>
              <a:t> Molecular dynamics.</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9946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CD44-AD3D-82B3-1790-9F57F23AF9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D7DAB-48C2-6133-53F5-BBC49FE6CE99}"/>
              </a:ext>
            </a:extLst>
          </p:cNvPr>
          <p:cNvSpPr>
            <a:spLocks noGrp="1"/>
          </p:cNvSpPr>
          <p:nvPr>
            <p:ph type="title"/>
          </p:nvPr>
        </p:nvSpPr>
        <p:spPr>
          <a:xfrm>
            <a:off x="457200" y="2143125"/>
            <a:ext cx="8229600" cy="857250"/>
          </a:xfrm>
        </p:spPr>
        <p:txBody>
          <a:bodyPr/>
          <a:lstStyle/>
          <a:p>
            <a:r>
              <a:rPr 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0282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7BA387-BDFC-B5FC-25CB-6F602E11D282}"/>
              </a:ext>
            </a:extLst>
          </p:cNvPr>
          <p:cNvSpPr>
            <a:spLocks noGrp="1"/>
          </p:cNvSpPr>
          <p:nvPr>
            <p:ph type="title"/>
          </p:nvPr>
        </p:nvSpPr>
        <p:spPr>
          <a:xfrm>
            <a:off x="562047" y="114300"/>
            <a:ext cx="7886700" cy="685800"/>
          </a:xfrm>
        </p:spPr>
        <p:txBody>
          <a:bodyPr/>
          <a:lstStyle/>
          <a:p>
            <a:pPr algn="ct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p:txBody>
      </p:sp>
      <p:sp>
        <p:nvSpPr>
          <p:cNvPr id="5" name="Content Placeholder 4">
            <a:extLst>
              <a:ext uri="{FF2B5EF4-FFF2-40B4-BE49-F238E27FC236}">
                <a16:creationId xmlns:a16="http://schemas.microsoft.com/office/drawing/2014/main" id="{33B5C211-B411-0C27-D301-B737F5613E61}"/>
              </a:ext>
            </a:extLst>
          </p:cNvPr>
          <p:cNvSpPr>
            <a:spLocks noGrp="1"/>
          </p:cNvSpPr>
          <p:nvPr>
            <p:ph idx="1"/>
          </p:nvPr>
        </p:nvSpPr>
        <p:spPr>
          <a:xfrm>
            <a:off x="465364" y="1012803"/>
            <a:ext cx="8213272" cy="4138862"/>
          </a:xfrm>
        </p:spPr>
        <p:txBody>
          <a:bodyPr>
            <a:noAutofit/>
          </a:bodyPr>
          <a:lstStyle/>
          <a:p>
            <a:pPr algn="just"/>
            <a:r>
              <a:rPr lang="en-US" sz="2000" dirty="0">
                <a:latin typeface="Times New Roman" panose="02020603050405020304" pitchFamily="18" charset="0"/>
                <a:cs typeface="Times New Roman" panose="02020603050405020304" pitchFamily="18" charset="0"/>
              </a:rPr>
              <a:t>Gaucher's disease is a genetic disorder caused by mutations in the GBA gene, which provides instructions for making an enzyme called glucocerebrosidase. (Grabowski et al. 2001)</a:t>
            </a:r>
          </a:p>
          <a:p>
            <a:pPr algn="just"/>
            <a:r>
              <a:rPr lang="en-US" sz="2000" dirty="0">
                <a:latin typeface="Times New Roman" panose="02020603050405020304" pitchFamily="18" charset="0"/>
                <a:cs typeface="Times New Roman" panose="02020603050405020304" pitchFamily="18" charset="0"/>
              </a:rPr>
              <a:t>This enzyme breaks down a fatty substance called glucocerebroside into simpler molecules. When there is a mutation in the GBA gene, the enzyme doesn't function properly, leading to a buildup of glucocerebroside in various cells, particularly in the liver, spleen, bone marrow, and sometimes the brain. (Beutler et al. 1971)</a:t>
            </a:r>
          </a:p>
          <a:p>
            <a:pPr algn="just"/>
            <a:r>
              <a:rPr lang="en-US" sz="2000" dirty="0">
                <a:latin typeface="Times New Roman" panose="02020603050405020304" pitchFamily="18" charset="0"/>
                <a:cs typeface="Times New Roman" panose="02020603050405020304" pitchFamily="18" charset="0"/>
              </a:rPr>
              <a:t> The buildup causes the cells to become engorged, which leads to the enlargement of organs, skeletal abnormalities, anemia, and other symptoms associated with Gaucher's disease. There are different types of Gaucher's disease. (Brady et al. 1965)</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3230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1C20F-A5C8-53AF-175D-A2CFE8F39A74}"/>
              </a:ext>
            </a:extLst>
          </p:cNvPr>
          <p:cNvSpPr>
            <a:spLocks noGrp="1"/>
          </p:cNvSpPr>
          <p:nvPr>
            <p:ph type="title"/>
          </p:nvPr>
        </p:nvSpPr>
        <p:spPr>
          <a:xfrm>
            <a:off x="628650" y="1"/>
            <a:ext cx="7886700" cy="994172"/>
          </a:xfrm>
        </p:spPr>
        <p:txBody>
          <a:bodyPr/>
          <a:lstStyle/>
          <a:p>
            <a:pPr algn="l"/>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Types of Gaucher Disease</a:t>
            </a:r>
            <a:r>
              <a:rPr lang="en-US" b="1" dirty="0"/>
              <a:t> </a:t>
            </a:r>
          </a:p>
        </p:txBody>
      </p:sp>
      <p:sp>
        <p:nvSpPr>
          <p:cNvPr id="3" name="Content Placeholder 2">
            <a:extLst>
              <a:ext uri="{FF2B5EF4-FFF2-40B4-BE49-F238E27FC236}">
                <a16:creationId xmlns:a16="http://schemas.microsoft.com/office/drawing/2014/main" id="{AD0B3512-2ED7-77F5-5B87-B18E0A5BC6D5}"/>
              </a:ext>
            </a:extLst>
          </p:cNvPr>
          <p:cNvSpPr>
            <a:spLocks noGrp="1"/>
          </p:cNvSpPr>
          <p:nvPr>
            <p:ph idx="1"/>
          </p:nvPr>
        </p:nvSpPr>
        <p:spPr>
          <a:xfrm>
            <a:off x="424543" y="833862"/>
            <a:ext cx="8294914" cy="3263504"/>
          </a:xfrm>
        </p:spPr>
        <p:txBody>
          <a:bodyPr>
            <a:noAutofit/>
          </a:bodyPr>
          <a:lstStyle/>
          <a:p>
            <a:pPr marL="385763" indent="-385763" algn="just">
              <a:buAutoNum type="arabicPeriod"/>
            </a:pPr>
            <a:r>
              <a:rPr lang="en-US" sz="2000" dirty="0">
                <a:latin typeface="Times New Roman" panose="02020603050405020304" pitchFamily="18" charset="0"/>
                <a:cs typeface="Times New Roman" panose="02020603050405020304" pitchFamily="18" charset="0"/>
              </a:rPr>
              <a:t>Type 1 (non-neuropathic): </a:t>
            </a:r>
          </a:p>
          <a:p>
            <a:pPr marL="0" indent="0" algn="just">
              <a:buNone/>
            </a:pPr>
            <a:r>
              <a:rPr lang="en-US" sz="2000" dirty="0">
                <a:latin typeface="Times New Roman" panose="02020603050405020304" pitchFamily="18" charset="0"/>
                <a:cs typeface="Times New Roman" panose="02020603050405020304" pitchFamily="18" charset="0"/>
              </a:rPr>
              <a:t>Individuals with Type 1 Gaucher disease can have a near-normal life expectancy with appropriate treatment. Symptoms such as hepatosplenomegaly, anemia, and thrombocytopenia often improve with enzyme replacement therapy (ERT).Bone disease may progress more slowly or stabilize with ERT, but residual skeletal abnormalities can persist. Most common, affects the liver, spleen, and bones. (</a:t>
            </a:r>
            <a:r>
              <a:rPr lang="en-US" sz="2000" dirty="0" err="1">
                <a:latin typeface="Times New Roman" panose="02020603050405020304" pitchFamily="18" charset="0"/>
                <a:cs typeface="Times New Roman" panose="02020603050405020304" pitchFamily="18" charset="0"/>
              </a:rPr>
              <a:t>Futerman</a:t>
            </a:r>
            <a:r>
              <a:rPr lang="en-US" sz="2000" dirty="0">
                <a:latin typeface="Times New Roman" panose="02020603050405020304" pitchFamily="18" charset="0"/>
                <a:cs typeface="Times New Roman" panose="02020603050405020304" pitchFamily="18" charset="0"/>
              </a:rPr>
              <a:t> et al. 2004)</a:t>
            </a:r>
          </a:p>
          <a:p>
            <a:pPr marL="0" indent="0" algn="just">
              <a:buNone/>
            </a:pPr>
            <a:r>
              <a:rPr lang="en-US" sz="2000" dirty="0">
                <a:latin typeface="Times New Roman" panose="02020603050405020304" pitchFamily="18" charset="0"/>
                <a:cs typeface="Times New Roman" panose="02020603050405020304" pitchFamily="18" charset="0"/>
              </a:rPr>
              <a:t>2. Type 2  (Acute Neuropathic Form):</a:t>
            </a:r>
          </a:p>
          <a:p>
            <a:pPr marL="0" indent="0" algn="just">
              <a:buNone/>
            </a:pPr>
            <a:r>
              <a:rPr lang="en-US" sz="2000" dirty="0">
                <a:latin typeface="Times New Roman" panose="02020603050405020304" pitchFamily="18" charset="0"/>
                <a:cs typeface="Times New Roman" panose="02020603050405020304" pitchFamily="18" charset="0"/>
              </a:rPr>
              <a:t>Type 2 Gaucher disease is a severe and rapidly progressing form, primarily affecting infants. The prognosis for Type 2 is generally poor, with a significantly reduced life expectancy. Affected children often experience neurological decline and severe complications in infancy or early childhood. (Cox et al. 2003)</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8771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2364DD-0BE0-110A-2192-22B8AA05B53A}"/>
              </a:ext>
            </a:extLst>
          </p:cNvPr>
          <p:cNvSpPr>
            <a:spLocks noGrp="1"/>
          </p:cNvSpPr>
          <p:nvPr>
            <p:ph idx="1"/>
          </p:nvPr>
        </p:nvSpPr>
        <p:spPr>
          <a:xfrm>
            <a:off x="405646" y="204179"/>
            <a:ext cx="8105274" cy="4622507"/>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3. Type 3 Gaucher Disease (Chronic Neuropathic Form):</a:t>
            </a:r>
          </a:p>
          <a:p>
            <a:pPr marL="0" indent="0">
              <a:buNone/>
            </a:pPr>
            <a:r>
              <a:rPr lang="en-US" sz="2000" dirty="0">
                <a:latin typeface="Times New Roman" panose="02020603050405020304" pitchFamily="18" charset="0"/>
                <a:cs typeface="Times New Roman" panose="02020603050405020304" pitchFamily="18" charset="0"/>
              </a:rPr>
              <a:t>Type 3 Gaucher disease is a milder form than Type 2, with a later onset of symptoms, typically in childhood or adolescence. Prognosis varies widely, with some individuals having a relatively stable course while others may experience more significant neurological involvement. (Zimran et al. 1992)</a:t>
            </a:r>
          </a:p>
        </p:txBody>
      </p:sp>
      <p:pic>
        <p:nvPicPr>
          <p:cNvPr id="4" name="Picture 3">
            <a:extLst>
              <a:ext uri="{FF2B5EF4-FFF2-40B4-BE49-F238E27FC236}">
                <a16:creationId xmlns:a16="http://schemas.microsoft.com/office/drawing/2014/main" id="{0276EBF9-BD32-A85A-D505-03C6AE85D33C}"/>
              </a:ext>
            </a:extLst>
          </p:cNvPr>
          <p:cNvPicPr>
            <a:picLocks noChangeAspect="1"/>
          </p:cNvPicPr>
          <p:nvPr/>
        </p:nvPicPr>
        <p:blipFill>
          <a:blip r:embed="rId2">
            <a:extLst>
              <a:ext uri="{28A0092B-C50C-407E-A947-70E740481C1C}">
                <a14:useLocalDpi xmlns:a14="http://schemas.microsoft.com/office/drawing/2010/main" val="0"/>
              </a:ext>
            </a:extLst>
          </a:blip>
          <a:srcRect t="14923"/>
          <a:stretch/>
        </p:blipFill>
        <p:spPr>
          <a:xfrm>
            <a:off x="2124657" y="1889766"/>
            <a:ext cx="4537400" cy="2809330"/>
          </a:xfrm>
          <a:prstGeom prst="rect">
            <a:avLst/>
          </a:prstGeom>
        </p:spPr>
      </p:pic>
      <p:sp>
        <p:nvSpPr>
          <p:cNvPr id="2" name="TextBox 1">
            <a:extLst>
              <a:ext uri="{FF2B5EF4-FFF2-40B4-BE49-F238E27FC236}">
                <a16:creationId xmlns:a16="http://schemas.microsoft.com/office/drawing/2014/main" id="{213BB820-FD61-E99D-F2A0-BA9915E3648F}"/>
              </a:ext>
            </a:extLst>
          </p:cNvPr>
          <p:cNvSpPr txBox="1"/>
          <p:nvPr/>
        </p:nvSpPr>
        <p:spPr>
          <a:xfrm>
            <a:off x="1913860" y="4604484"/>
            <a:ext cx="5497033" cy="307777"/>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Fig.2.1. Schematic Representation of types of Gaucher disease</a:t>
            </a:r>
          </a:p>
        </p:txBody>
      </p:sp>
    </p:spTree>
    <p:extLst>
      <p:ext uri="{BB962C8B-B14F-4D97-AF65-F5344CB8AC3E}">
        <p14:creationId xmlns:p14="http://schemas.microsoft.com/office/powerpoint/2010/main" val="375603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1163A-1CCF-6D6A-DFCB-52BE20172C1E}"/>
              </a:ext>
            </a:extLst>
          </p:cNvPr>
          <p:cNvSpPr>
            <a:spLocks noGrp="1"/>
          </p:cNvSpPr>
          <p:nvPr>
            <p:ph type="title"/>
          </p:nvPr>
        </p:nvSpPr>
        <p:spPr>
          <a:xfrm>
            <a:off x="416594" y="0"/>
            <a:ext cx="8310813" cy="1268016"/>
          </a:xfrm>
        </p:spPr>
        <p:txBody>
          <a:bodyPr/>
          <a:lstStyle/>
          <a:p>
            <a:pPr algn="l"/>
            <a:r>
              <a:rPr lang="en-US" b="1" dirty="0">
                <a:latin typeface="Times New Roman" panose="02020603050405020304" pitchFamily="18" charset="0"/>
                <a:cs typeface="Times New Roman" panose="02020603050405020304" pitchFamily="18" charset="0"/>
              </a:rPr>
              <a:t>Protein Coding of Gaucher Disease</a:t>
            </a:r>
          </a:p>
        </p:txBody>
      </p:sp>
      <p:sp>
        <p:nvSpPr>
          <p:cNvPr id="3" name="Content Placeholder 2">
            <a:extLst>
              <a:ext uri="{FF2B5EF4-FFF2-40B4-BE49-F238E27FC236}">
                <a16:creationId xmlns:a16="http://schemas.microsoft.com/office/drawing/2014/main" id="{03C1D28F-B40A-0D41-7037-15A231F8D2A3}"/>
              </a:ext>
            </a:extLst>
          </p:cNvPr>
          <p:cNvSpPr>
            <a:spLocks noGrp="1"/>
          </p:cNvSpPr>
          <p:nvPr>
            <p:ph idx="1"/>
          </p:nvPr>
        </p:nvSpPr>
        <p:spPr>
          <a:xfrm>
            <a:off x="200133" y="1079404"/>
            <a:ext cx="8743734" cy="3822909"/>
          </a:xfrm>
        </p:spPr>
        <p:txBody>
          <a:bodyPr>
            <a:noAutofit/>
          </a:bodyPr>
          <a:lstStyle/>
          <a:p>
            <a:pPr algn="just"/>
            <a:r>
              <a:rPr lang="en-US" sz="2000" dirty="0">
                <a:latin typeface="Times New Roman" panose="02020603050405020304" pitchFamily="18" charset="0"/>
                <a:cs typeface="Times New Roman" panose="02020603050405020304" pitchFamily="18" charset="0"/>
              </a:rPr>
              <a:t> Protein mutations are responsible for Gaucher disease. Specifically, mutations in the GBA gene, which codes for the enzyme glucocerebrosidase, lead to this disorder. (Balwani et al. 2010)</a:t>
            </a:r>
          </a:p>
          <a:p>
            <a:pPr algn="just"/>
            <a:r>
              <a:rPr lang="en-US" sz="2000" dirty="0">
                <a:latin typeface="Times New Roman" panose="02020603050405020304" pitchFamily="18" charset="0"/>
                <a:cs typeface="Times New Roman" panose="02020603050405020304" pitchFamily="18" charset="0"/>
              </a:rPr>
              <a:t>The mutations alter the structure and function of the enzyme, making it either non-functional or severely impaired. (Charrow et al. 2000)</a:t>
            </a:r>
          </a:p>
          <a:p>
            <a:pPr algn="just"/>
            <a:r>
              <a:rPr lang="en-US" sz="2000" dirty="0">
                <a:latin typeface="Times New Roman" panose="02020603050405020304" pitchFamily="18" charset="0"/>
                <a:cs typeface="Times New Roman" panose="02020603050405020304" pitchFamily="18" charset="0"/>
              </a:rPr>
              <a:t>This results in the accumulation of the fatty substance glucocerebroside in cells, particularly in macrophages, leading to the symptoms of Gaucher disease. (</a:t>
            </a:r>
            <a:r>
              <a:rPr lang="en-US" sz="2000" dirty="0" err="1">
                <a:latin typeface="Times New Roman" panose="02020603050405020304" pitchFamily="18" charset="0"/>
                <a:cs typeface="Times New Roman" panose="02020603050405020304" pitchFamily="18" charset="0"/>
              </a:rPr>
              <a:t>Sidransky</a:t>
            </a:r>
            <a:r>
              <a:rPr lang="en-US" sz="2000" dirty="0">
                <a:latin typeface="Times New Roman" panose="02020603050405020304" pitchFamily="18" charset="0"/>
                <a:cs typeface="Times New Roman" panose="02020603050405020304" pitchFamily="18" charset="0"/>
              </a:rPr>
              <a:t> et al. 2004)</a:t>
            </a:r>
          </a:p>
          <a:p>
            <a:pPr algn="just"/>
            <a:r>
              <a:rPr lang="en-US" sz="2000" dirty="0">
                <a:latin typeface="Times New Roman" panose="02020603050405020304" pitchFamily="18" charset="0"/>
                <a:cs typeface="Times New Roman" panose="02020603050405020304" pitchFamily="18" charset="0"/>
              </a:rPr>
              <a:t>Over 4922 mutations of the GBA gene have been identified, including missense, frameshift, and nonsense mutations, all of which can affect the protein's folding, stability, and enzymatic activity which has 530 missense mutation. (Schiffmann et al. 2002)</a:t>
            </a: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1550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44DAED-3598-19B9-C126-DFD49DC6F696}"/>
              </a:ext>
            </a:extLst>
          </p:cNvPr>
          <p:cNvSpPr>
            <a:spLocks noGrp="1"/>
          </p:cNvSpPr>
          <p:nvPr>
            <p:ph idx="1"/>
          </p:nvPr>
        </p:nvSpPr>
        <p:spPr>
          <a:xfrm>
            <a:off x="104775" y="142875"/>
            <a:ext cx="8704489" cy="5000625"/>
          </a:xfrm>
        </p:spPr>
        <p:txBody>
          <a:bodyPr>
            <a:normAutofit/>
          </a:bodyPr>
          <a:lstStyle/>
          <a:p>
            <a:r>
              <a:rPr lang="en-US" sz="2000" dirty="0">
                <a:latin typeface="Times New Roman" panose="02020603050405020304" pitchFamily="18" charset="0"/>
                <a:cs typeface="Times New Roman" panose="02020603050405020304" pitchFamily="18" charset="0"/>
              </a:rPr>
              <a:t>These mutations range in severity, influencing whether a person develops type 1, 2, or 3 Gaucher disease, with some mutations linked to more severe neuronopathic forms (types 2 and 3). (Kaplan et al. 1993)</a:t>
            </a:r>
          </a:p>
          <a:p>
            <a:r>
              <a:rPr lang="en-US" sz="2000" dirty="0">
                <a:latin typeface="Times New Roman" panose="02020603050405020304" pitchFamily="18" charset="0"/>
                <a:cs typeface="Times New Roman" panose="02020603050405020304" pitchFamily="18" charset="0"/>
              </a:rPr>
              <a:t>The GBA gene codes for the protein glucocerebrosidase through the typical process of gene expression, which involves two key stages: transcription and translation. (Rosenbloom et al. 2011)</a:t>
            </a:r>
          </a:p>
          <a:p>
            <a:pPr marL="0" indent="0">
              <a:buNone/>
            </a:pPr>
            <a:r>
              <a:rPr lang="en-US" sz="2000" b="1" dirty="0">
                <a:latin typeface="Times New Roman" panose="02020603050405020304" pitchFamily="18" charset="0"/>
                <a:cs typeface="Times New Roman" panose="02020603050405020304" pitchFamily="18" charset="0"/>
              </a:rPr>
              <a:t>1. Transcription </a:t>
            </a:r>
            <a:r>
              <a:rPr lang="en-US" sz="2000" dirty="0">
                <a:latin typeface="Times New Roman" panose="02020603050405020304" pitchFamily="18" charset="0"/>
                <a:cs typeface="Times New Roman" panose="02020603050405020304" pitchFamily="18" charset="0"/>
              </a:rPr>
              <a:t>(DNA to mRNA):The GBA gene is located on chromosome 1 and consists of DNA sequences. (Pastores et al. 2004)</a:t>
            </a:r>
          </a:p>
          <a:p>
            <a:r>
              <a:rPr lang="en-US" sz="2000" dirty="0">
                <a:latin typeface="Times New Roman" panose="02020603050405020304" pitchFamily="18" charset="0"/>
                <a:cs typeface="Times New Roman" panose="02020603050405020304" pitchFamily="18" charset="0"/>
              </a:rPr>
              <a:t>When the gene is activated, a segment of DNA is transcribed into messenger RNA (mRNA) by an enzyme called RNA polymerase.(</a:t>
            </a:r>
            <a:r>
              <a:rPr lang="en-US" sz="2000" dirty="0" err="1">
                <a:latin typeface="Times New Roman" panose="02020603050405020304" pitchFamily="18" charset="0"/>
                <a:cs typeface="Times New Roman" panose="02020603050405020304" pitchFamily="18" charset="0"/>
              </a:rPr>
              <a:t>Elstein</a:t>
            </a:r>
            <a:r>
              <a:rPr lang="en-US" sz="2000" dirty="0">
                <a:latin typeface="Times New Roman" panose="02020603050405020304" pitchFamily="18" charset="0"/>
                <a:cs typeface="Times New Roman" panose="02020603050405020304" pitchFamily="18" charset="0"/>
              </a:rPr>
              <a:t> et al. 1997)</a:t>
            </a:r>
          </a:p>
          <a:p>
            <a:r>
              <a:rPr lang="en-US" sz="2000" dirty="0">
                <a:latin typeface="Times New Roman" panose="02020603050405020304" pitchFamily="18" charset="0"/>
                <a:cs typeface="Times New Roman" panose="02020603050405020304" pitchFamily="18" charset="0"/>
              </a:rPr>
              <a:t>During transcription, the DNA sequence of the GBA gene serves as a template, and complementary RNA bases are assembled to form a strand of mRNA.This mRNA strand is a copy of the gene's coding sequence, carrying the information needed to produce the protein. (Mistry et al. 2009)</a:t>
            </a:r>
          </a:p>
        </p:txBody>
      </p:sp>
    </p:spTree>
    <p:extLst>
      <p:ext uri="{BB962C8B-B14F-4D97-AF65-F5344CB8AC3E}">
        <p14:creationId xmlns:p14="http://schemas.microsoft.com/office/powerpoint/2010/main" val="2052685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E9D6C-879E-6350-E425-943BAB81B7CD}"/>
              </a:ext>
            </a:extLst>
          </p:cNvPr>
          <p:cNvSpPr>
            <a:spLocks noGrp="1"/>
          </p:cNvSpPr>
          <p:nvPr>
            <p:ph idx="1"/>
          </p:nvPr>
        </p:nvSpPr>
        <p:spPr>
          <a:xfrm>
            <a:off x="346982" y="177234"/>
            <a:ext cx="8450036" cy="4288631"/>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2. Translation (mRNA to Protein):The mRNA exits the nucleus and enters the cytoplasm, where it attaches to a ribosome, the cellular machinery that synthesizes proteins. (</a:t>
            </a:r>
            <a:r>
              <a:rPr lang="en-US" sz="2000" dirty="0" err="1">
                <a:latin typeface="Times New Roman" panose="02020603050405020304" pitchFamily="18" charset="0"/>
                <a:cs typeface="Times New Roman" panose="02020603050405020304" pitchFamily="18" charset="0"/>
              </a:rPr>
              <a:t>Kacena</a:t>
            </a:r>
            <a:r>
              <a:rPr lang="en-US" sz="2000" dirty="0">
                <a:latin typeface="Times New Roman" panose="02020603050405020304" pitchFamily="18" charset="0"/>
                <a:cs typeface="Times New Roman" panose="02020603050405020304" pitchFamily="18" charset="0"/>
              </a:rPr>
              <a:t> et al. 2003)</a:t>
            </a:r>
          </a:p>
          <a:p>
            <a:pPr algn="just"/>
            <a:r>
              <a:rPr lang="en-US" sz="2000" dirty="0">
                <a:latin typeface="Times New Roman" panose="02020603050405020304" pitchFamily="18" charset="0"/>
                <a:cs typeface="Times New Roman" panose="02020603050405020304" pitchFamily="18" charset="0"/>
              </a:rPr>
              <a:t>The ribosome reads the mRNA sequence in sets of three bases called codons, each codon specifying a particular amino acid. Transfer RNA (tRNA) molecules bring the appropriate amino acids to the ribosome based on the codons in the mRNA. (</a:t>
            </a:r>
            <a:r>
              <a:rPr lang="nl-NL" sz="2000" dirty="0">
                <a:latin typeface="Times New Roman" panose="02020603050405020304" pitchFamily="18" charset="0"/>
                <a:cs typeface="Times New Roman" panose="02020603050405020304" pitchFamily="18" charset="0"/>
              </a:rPr>
              <a:t>van Dussen et al. 2014)</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NOTE:</a:t>
            </a:r>
          </a:p>
          <a:p>
            <a:pPr algn="just"/>
            <a:r>
              <a:rPr lang="en-US" sz="2000" dirty="0">
                <a:latin typeface="Times New Roman" panose="02020603050405020304" pitchFamily="18" charset="0"/>
                <a:cs typeface="Times New Roman" panose="02020603050405020304" pitchFamily="18" charset="0"/>
              </a:rPr>
              <a:t>Mutations in the GBA Gene: If there are mutations in the DNA sequence of the GBA gene, the transcription or translation process may produce a faulty or non-functional glucocerebrosidase protein. (Andersson et al. 2005)</a:t>
            </a:r>
          </a:p>
          <a:p>
            <a:pPr algn="just"/>
            <a:r>
              <a:rPr lang="en-US" sz="2000" dirty="0">
                <a:latin typeface="Times New Roman" panose="02020603050405020304" pitchFamily="18" charset="0"/>
                <a:cs typeface="Times New Roman" panose="02020603050405020304" pitchFamily="18" charset="0"/>
              </a:rPr>
              <a:t>These mutations can lead to defective enzyme function, resulting in the lipid accumulation characteristic of Gaucher's disease. (</a:t>
            </a:r>
            <a:r>
              <a:rPr lang="en-US" sz="2000" dirty="0" err="1">
                <a:latin typeface="Times New Roman" panose="02020603050405020304" pitchFamily="18" charset="0"/>
                <a:cs typeface="Times New Roman" panose="02020603050405020304" pitchFamily="18" charset="0"/>
              </a:rPr>
              <a:t>Hollak</a:t>
            </a:r>
            <a:r>
              <a:rPr lang="en-US" sz="2000" dirty="0">
                <a:latin typeface="Times New Roman" panose="02020603050405020304" pitchFamily="18" charset="0"/>
                <a:cs typeface="Times New Roman" panose="02020603050405020304" pitchFamily="18" charset="0"/>
              </a:rPr>
              <a:t> et al. 1994)</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endParaRPr lang="en-US" sz="2000" dirty="0"/>
          </a:p>
        </p:txBody>
      </p:sp>
    </p:spTree>
    <p:extLst>
      <p:ext uri="{BB962C8B-B14F-4D97-AF65-F5344CB8AC3E}">
        <p14:creationId xmlns:p14="http://schemas.microsoft.com/office/powerpoint/2010/main" val="2653977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0BB16-6A94-6416-D246-77DA903A2F7D}"/>
              </a:ext>
            </a:extLst>
          </p:cNvPr>
          <p:cNvSpPr>
            <a:spLocks noGrp="1"/>
          </p:cNvSpPr>
          <p:nvPr>
            <p:ph type="title"/>
          </p:nvPr>
        </p:nvSpPr>
        <p:spPr>
          <a:xfrm>
            <a:off x="467746" y="114640"/>
            <a:ext cx="7886700" cy="994172"/>
          </a:xfrm>
        </p:spPr>
        <p:txBody>
          <a:bodyPr/>
          <a:lstStyle/>
          <a:p>
            <a:pPr algn="l"/>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Worldwide Statistics</a:t>
            </a:r>
          </a:p>
        </p:txBody>
      </p:sp>
      <p:sp>
        <p:nvSpPr>
          <p:cNvPr id="3" name="Content Placeholder 2">
            <a:extLst>
              <a:ext uri="{FF2B5EF4-FFF2-40B4-BE49-F238E27FC236}">
                <a16:creationId xmlns:a16="http://schemas.microsoft.com/office/drawing/2014/main" id="{4603ABCE-8A5E-73A7-074B-7A5FEEA9D6F7}"/>
              </a:ext>
            </a:extLst>
          </p:cNvPr>
          <p:cNvSpPr>
            <a:spLocks noGrp="1"/>
          </p:cNvSpPr>
          <p:nvPr>
            <p:ph idx="1"/>
          </p:nvPr>
        </p:nvSpPr>
        <p:spPr>
          <a:xfrm>
            <a:off x="351064" y="1108812"/>
            <a:ext cx="8120063" cy="3762428"/>
          </a:xfrm>
        </p:spPr>
        <p:txBody>
          <a:bodyPr>
            <a:normAutofit fontScale="92500"/>
          </a:bodyPr>
          <a:lstStyle/>
          <a:p>
            <a:pPr algn="just"/>
            <a:r>
              <a:rPr lang="en-US" sz="2250" dirty="0">
                <a:latin typeface="Times New Roman" panose="02020603050405020304" pitchFamily="18" charset="0"/>
                <a:cs typeface="Times New Roman" panose="02020603050405020304" pitchFamily="18" charset="0"/>
              </a:rPr>
              <a:t>Gaucher disease, though rare, is the most common lysosomal storage disorder (LSD) both globally and in India. The prevalence of Gaucher disease varies significantly by region. (</a:t>
            </a:r>
            <a:r>
              <a:rPr lang="en-US" sz="2250" dirty="0" err="1">
                <a:latin typeface="Times New Roman" panose="02020603050405020304" pitchFamily="18" charset="0"/>
                <a:cs typeface="Times New Roman" panose="02020603050405020304" pitchFamily="18" charset="0"/>
              </a:rPr>
              <a:t>Peterschmitt</a:t>
            </a:r>
            <a:r>
              <a:rPr lang="en-US" sz="2250" dirty="0">
                <a:latin typeface="Times New Roman" panose="02020603050405020304" pitchFamily="18" charset="0"/>
                <a:cs typeface="Times New Roman" panose="02020603050405020304" pitchFamily="18" charset="0"/>
              </a:rPr>
              <a:t> et al. 2011)</a:t>
            </a:r>
          </a:p>
          <a:p>
            <a:pPr algn="just"/>
            <a:r>
              <a:rPr lang="en-US" sz="2250" dirty="0">
                <a:latin typeface="Times New Roman" panose="02020603050405020304" pitchFamily="18" charset="0"/>
                <a:cs typeface="Times New Roman" panose="02020603050405020304" pitchFamily="18" charset="0"/>
              </a:rPr>
              <a:t>Worldwide, the incidence ranges from 0.45 to 25 per 100,000 live births depending on the population studied. In countries like the U.S. and parts of Europe, Gaucher disease type 1 is more common, with an estimated prevalence of 0.70 to 1.75 per 100,000 people. (Gonzalez et al. 2015)</a:t>
            </a:r>
          </a:p>
          <a:p>
            <a:pPr algn="just"/>
            <a:r>
              <a:rPr lang="en-US" sz="2250" dirty="0">
                <a:latin typeface="Times New Roman" panose="02020603050405020304" pitchFamily="18" charset="0"/>
                <a:cs typeface="Times New Roman" panose="02020603050405020304" pitchFamily="18" charset="0"/>
              </a:rPr>
              <a:t> Types 2 and 3, which are rarer and often more severe, are found less frequently, with prevalence estimates as low as 0.02 to 0.08 per 100,000. (Martins et al. 2009)</a:t>
            </a:r>
          </a:p>
        </p:txBody>
      </p:sp>
    </p:spTree>
    <p:extLst>
      <p:ext uri="{BB962C8B-B14F-4D97-AF65-F5344CB8AC3E}">
        <p14:creationId xmlns:p14="http://schemas.microsoft.com/office/powerpoint/2010/main" val="2600617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7C9EFBF-2C95-737A-B483-B26BDA3358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0484" y="137218"/>
            <a:ext cx="7425262" cy="4236252"/>
          </a:xfrm>
        </p:spPr>
      </p:pic>
      <p:sp>
        <p:nvSpPr>
          <p:cNvPr id="3" name="TextBox 2">
            <a:extLst>
              <a:ext uri="{FF2B5EF4-FFF2-40B4-BE49-F238E27FC236}">
                <a16:creationId xmlns:a16="http://schemas.microsoft.com/office/drawing/2014/main" id="{04F7F7C7-2EDA-1063-8A5B-1DEE3778D802}"/>
              </a:ext>
            </a:extLst>
          </p:cNvPr>
          <p:cNvSpPr txBox="1"/>
          <p:nvPr/>
        </p:nvSpPr>
        <p:spPr>
          <a:xfrm>
            <a:off x="1407381" y="4436828"/>
            <a:ext cx="6186115" cy="338554"/>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Fig.2.2. Graph of Worldwide Statistics of Gaucher Disease </a:t>
            </a:r>
          </a:p>
        </p:txBody>
      </p:sp>
    </p:spTree>
    <p:extLst>
      <p:ext uri="{BB962C8B-B14F-4D97-AF65-F5344CB8AC3E}">
        <p14:creationId xmlns:p14="http://schemas.microsoft.com/office/powerpoint/2010/main" val="2122134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2E411-5ECC-7954-2D94-12AB87C89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C9DD3-29EC-4069-57E0-351C67A3BC6E}"/>
              </a:ext>
            </a:extLst>
          </p:cNvPr>
          <p:cNvSpPr>
            <a:spLocks noGrp="1"/>
          </p:cNvSpPr>
          <p:nvPr>
            <p:ph type="title"/>
          </p:nvPr>
        </p:nvSpPr>
        <p:spPr>
          <a:xfrm>
            <a:off x="457200" y="2143125"/>
            <a:ext cx="8229600" cy="857250"/>
          </a:xfrm>
        </p:spPr>
        <p:txBody>
          <a:bodyPr/>
          <a:lstStyle/>
          <a:p>
            <a:r>
              <a:rPr lang="en-US" altLang="en-US" sz="4400" b="1" dirty="0">
                <a:latin typeface="Times New Roman" panose="02020603050405020304" pitchFamily="18" charset="0"/>
                <a:cs typeface="Times New Roman" panose="02020603050405020304" pitchFamily="18" charset="0"/>
              </a:rPr>
              <a:t>Literature Review</a:t>
            </a:r>
            <a:endParaRPr lang="en-US"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477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0587A1CD-5312-D1AF-7429-264FC43D3562}"/>
              </a:ext>
            </a:extLst>
          </p:cNvPr>
          <p:cNvSpPr>
            <a:spLocks noGrp="1"/>
          </p:cNvSpPr>
          <p:nvPr>
            <p:ph type="title"/>
          </p:nvPr>
        </p:nvSpPr>
        <p:spPr>
          <a:xfrm>
            <a:off x="457200" y="206375"/>
            <a:ext cx="8229600" cy="196850"/>
          </a:xfrm>
        </p:spPr>
        <p:txBody>
          <a:bodyPr/>
          <a:lstStyle/>
          <a:p>
            <a:r>
              <a:rPr lang="en-US" altLang="en-US" b="1" dirty="0">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41C4FECA-FDF4-8646-EC55-0FE8727C6AB2}"/>
              </a:ext>
            </a:extLst>
          </p:cNvPr>
          <p:cNvGraphicFramePr>
            <a:graphicFrameLocks noGrp="1"/>
          </p:cNvGraphicFramePr>
          <p:nvPr>
            <p:custDataLst>
              <p:tags r:id="rId1"/>
            </p:custDataLst>
            <p:extLst>
              <p:ext uri="{D42A27DB-BD31-4B8C-83A1-F6EECF244321}">
                <p14:modId xmlns:p14="http://schemas.microsoft.com/office/powerpoint/2010/main" val="2084987871"/>
              </p:ext>
            </p:extLst>
          </p:nvPr>
        </p:nvGraphicFramePr>
        <p:xfrm>
          <a:off x="312088" y="692647"/>
          <a:ext cx="8519824" cy="4450853"/>
        </p:xfrm>
        <a:graphic>
          <a:graphicData uri="http://schemas.openxmlformats.org/drawingml/2006/table">
            <a:tbl>
              <a:tblPr firstRow="1" bandRow="1">
                <a:tableStyleId>{5C22544A-7EE6-4342-B048-85BDC9FD1C3A}</a:tableStyleId>
              </a:tblPr>
              <a:tblGrid>
                <a:gridCol w="2129956">
                  <a:extLst>
                    <a:ext uri="{9D8B030D-6E8A-4147-A177-3AD203B41FA5}">
                      <a16:colId xmlns:a16="http://schemas.microsoft.com/office/drawing/2014/main" val="20000"/>
                    </a:ext>
                  </a:extLst>
                </a:gridCol>
                <a:gridCol w="2129956">
                  <a:extLst>
                    <a:ext uri="{9D8B030D-6E8A-4147-A177-3AD203B41FA5}">
                      <a16:colId xmlns:a16="http://schemas.microsoft.com/office/drawing/2014/main" val="20001"/>
                    </a:ext>
                  </a:extLst>
                </a:gridCol>
                <a:gridCol w="2129956">
                  <a:extLst>
                    <a:ext uri="{9D8B030D-6E8A-4147-A177-3AD203B41FA5}">
                      <a16:colId xmlns:a16="http://schemas.microsoft.com/office/drawing/2014/main" val="20002"/>
                    </a:ext>
                  </a:extLst>
                </a:gridCol>
                <a:gridCol w="2129956">
                  <a:extLst>
                    <a:ext uri="{9D8B030D-6E8A-4147-A177-3AD203B41FA5}">
                      <a16:colId xmlns:a16="http://schemas.microsoft.com/office/drawing/2014/main" val="20003"/>
                    </a:ext>
                  </a:extLst>
                </a:gridCol>
              </a:tblGrid>
              <a:tr h="220975">
                <a:tc>
                  <a:txBody>
                    <a:bodyPr/>
                    <a:lstStyle/>
                    <a:p>
                      <a:r>
                        <a:rPr sz="1300" dirty="0">
                          <a:latin typeface="Times New Roman" panose="02020603050405020304" pitchFamily="18" charset="0"/>
                          <a:cs typeface="Times New Roman" panose="02020603050405020304" pitchFamily="18" charset="0"/>
                        </a:rPr>
                        <a:t>AUTHOR AND YEAR</a:t>
                      </a:r>
                    </a:p>
                  </a:txBody>
                  <a:tcPr marL="68582" marR="68582" marT="34289" marB="34289"/>
                </a:tc>
                <a:tc>
                  <a:txBody>
                    <a:bodyPr/>
                    <a:lstStyle/>
                    <a:p>
                      <a:r>
                        <a:rPr sz="1300">
                          <a:latin typeface="Times New Roman" panose="02020603050405020304" pitchFamily="18" charset="0"/>
                          <a:cs typeface="Times New Roman" panose="02020603050405020304" pitchFamily="18" charset="0"/>
                        </a:rPr>
                        <a:t>TITLE</a:t>
                      </a:r>
                    </a:p>
                  </a:txBody>
                  <a:tcPr marL="68582" marR="68582" marT="34289" marB="34289"/>
                </a:tc>
                <a:tc>
                  <a:txBody>
                    <a:bodyPr/>
                    <a:lstStyle/>
                    <a:p>
                      <a:r>
                        <a:rPr sz="1300">
                          <a:latin typeface="Times New Roman" panose="02020603050405020304" pitchFamily="18" charset="0"/>
                          <a:cs typeface="Times New Roman" panose="02020603050405020304" pitchFamily="18" charset="0"/>
                        </a:rPr>
                        <a:t>JOURNAL</a:t>
                      </a:r>
                    </a:p>
                  </a:txBody>
                  <a:tcPr marL="68582" marR="68582" marT="34289" marB="34289"/>
                </a:tc>
                <a:tc>
                  <a:txBody>
                    <a:bodyPr/>
                    <a:lstStyle/>
                    <a:p>
                      <a:r>
                        <a:rPr sz="1300">
                          <a:latin typeface="Times New Roman" panose="02020603050405020304" pitchFamily="18" charset="0"/>
                          <a:cs typeface="Times New Roman" panose="02020603050405020304" pitchFamily="18" charset="0"/>
                        </a:rPr>
                        <a:t>RESEARCH FINDINGS</a:t>
                      </a:r>
                    </a:p>
                  </a:txBody>
                  <a:tcPr marL="68582" marR="68582" marT="34289" marB="34289"/>
                </a:tc>
                <a:extLst>
                  <a:ext uri="{0D108BD9-81ED-4DB2-BD59-A6C34878D82A}">
                    <a16:rowId xmlns:a16="http://schemas.microsoft.com/office/drawing/2014/main" val="10000"/>
                  </a:ext>
                </a:extLst>
              </a:tr>
              <a:tr h="1358319">
                <a:tc>
                  <a:txBody>
                    <a:bodyPr/>
                    <a:lstStyle/>
                    <a:p>
                      <a:r>
                        <a:rPr sz="1300" dirty="0">
                          <a:latin typeface="Times New Roman" panose="02020603050405020304" pitchFamily="18" charset="0"/>
                          <a:cs typeface="Times New Roman" panose="02020603050405020304" pitchFamily="18" charset="0"/>
                        </a:rPr>
                        <a:t>Neil Weinreb et.al. (2004)</a:t>
                      </a:r>
                    </a:p>
                  </a:txBody>
                  <a:tcPr marL="68582" marR="68582" marT="34289" marB="34289"/>
                </a:tc>
                <a:tc>
                  <a:txBody>
                    <a:bodyPr/>
                    <a:lstStyle/>
                    <a:p>
                      <a:r>
                        <a:rPr sz="1300" dirty="0" err="1">
                          <a:latin typeface="Times New Roman" panose="02020603050405020304" pitchFamily="18" charset="0"/>
                          <a:cs typeface="Times New Roman" panose="02020603050405020304" pitchFamily="18" charset="0"/>
                        </a:rPr>
                        <a:t>Gaucher</a:t>
                      </a:r>
                      <a:r>
                        <a:rPr sz="1300" dirty="0">
                          <a:latin typeface="Times New Roman" panose="02020603050405020304" pitchFamily="18" charset="0"/>
                          <a:cs typeface="Times New Roman" panose="02020603050405020304" pitchFamily="18" charset="0"/>
                        </a:rPr>
                        <a:t> disease type 1 and its evaluations and monitoring on adult patients</a:t>
                      </a:r>
                    </a:p>
                  </a:txBody>
                  <a:tcPr marL="68582" marR="68582" marT="34289" marB="34289"/>
                </a:tc>
                <a:tc>
                  <a:txBody>
                    <a:bodyPr/>
                    <a:lstStyle/>
                    <a:p>
                      <a:r>
                        <a:rPr sz="1300" dirty="0">
                          <a:latin typeface="Times New Roman" panose="02020603050405020304" pitchFamily="18" charset="0"/>
                          <a:cs typeface="Times New Roman" panose="02020603050405020304" pitchFamily="18" charset="0"/>
                        </a:rPr>
                        <a:t>Science Direct</a:t>
                      </a:r>
                    </a:p>
                  </a:txBody>
                  <a:tcPr marL="68582" marR="68582" marT="34289" marB="34289"/>
                </a:tc>
                <a:tc>
                  <a:txBody>
                    <a:bodyPr/>
                    <a:lstStyle/>
                    <a:p>
                      <a:r>
                        <a:rPr sz="1300" dirty="0">
                          <a:latin typeface="Times New Roman" panose="02020603050405020304" pitchFamily="18" charset="0"/>
                          <a:cs typeface="Times New Roman" panose="02020603050405020304" pitchFamily="18" charset="0"/>
                        </a:rPr>
                        <a:t>Comprehensive review of the </a:t>
                      </a:r>
                      <a:r>
                        <a:rPr sz="1300" dirty="0" err="1">
                          <a:latin typeface="Times New Roman" panose="02020603050405020304" pitchFamily="18" charset="0"/>
                          <a:cs typeface="Times New Roman" panose="02020603050405020304" pitchFamily="18" charset="0"/>
                        </a:rPr>
                        <a:t>Gaucher</a:t>
                      </a:r>
                      <a:r>
                        <a:rPr sz="1300" dirty="0">
                          <a:latin typeface="Times New Roman" panose="02020603050405020304" pitchFamily="18" charset="0"/>
                          <a:cs typeface="Times New Roman" panose="02020603050405020304" pitchFamily="18" charset="0"/>
                        </a:rPr>
                        <a:t> disease type 1, challenges faced by patients, and recommendations for monitoring.</a:t>
                      </a:r>
                    </a:p>
                  </a:txBody>
                  <a:tcPr marL="68582" marR="68582" marT="34289" marB="34289"/>
                </a:tc>
                <a:extLst>
                  <a:ext uri="{0D108BD9-81ED-4DB2-BD59-A6C34878D82A}">
                    <a16:rowId xmlns:a16="http://schemas.microsoft.com/office/drawing/2014/main" val="10001"/>
                  </a:ext>
                </a:extLst>
              </a:tr>
              <a:tr h="924190">
                <a:tc>
                  <a:txBody>
                    <a:bodyPr/>
                    <a:lstStyle/>
                    <a:p>
                      <a:r>
                        <a:rPr sz="1300" dirty="0">
                          <a:latin typeface="Times New Roman" panose="02020603050405020304" pitchFamily="18" charset="0"/>
                          <a:cs typeface="Times New Roman" panose="02020603050405020304" pitchFamily="18" charset="0"/>
                        </a:rPr>
                        <a:t>Jack </a:t>
                      </a:r>
                      <a:r>
                        <a:rPr sz="1300" dirty="0" err="1">
                          <a:latin typeface="Times New Roman" panose="02020603050405020304" pitchFamily="18" charset="0"/>
                          <a:cs typeface="Times New Roman" panose="02020603050405020304" pitchFamily="18" charset="0"/>
                        </a:rPr>
                        <a:t>Goldblatt</a:t>
                      </a:r>
                      <a:r>
                        <a:rPr sz="1300" dirty="0">
                          <a:latin typeface="Times New Roman" panose="02020603050405020304" pitchFamily="18" charset="0"/>
                          <a:cs typeface="Times New Roman" panose="02020603050405020304" pitchFamily="18" charset="0"/>
                        </a:rPr>
                        <a:t> et.al. (2013)</a:t>
                      </a:r>
                    </a:p>
                  </a:txBody>
                  <a:tcPr marL="68582" marR="68582" marT="34289" marB="34289"/>
                </a:tc>
                <a:tc>
                  <a:txBody>
                    <a:bodyPr/>
                    <a:lstStyle/>
                    <a:p>
                      <a:r>
                        <a:rPr sz="1300" dirty="0">
                          <a:latin typeface="Times New Roman" panose="02020603050405020304" pitchFamily="18" charset="0"/>
                          <a:cs typeface="Times New Roman" panose="02020603050405020304" pitchFamily="18" charset="0"/>
                        </a:rPr>
                        <a:t>Long-term clinical outcomes in type 1 </a:t>
                      </a:r>
                      <a:r>
                        <a:rPr sz="1300" dirty="0" err="1">
                          <a:latin typeface="Times New Roman" panose="02020603050405020304" pitchFamily="18" charset="0"/>
                          <a:cs typeface="Times New Roman" panose="02020603050405020304" pitchFamily="18" charset="0"/>
                        </a:rPr>
                        <a:t>Gaucher</a:t>
                      </a:r>
                      <a:r>
                        <a:rPr sz="1300" dirty="0">
                          <a:latin typeface="Times New Roman" panose="02020603050405020304" pitchFamily="18" charset="0"/>
                          <a:cs typeface="Times New Roman" panose="02020603050405020304" pitchFamily="18" charset="0"/>
                        </a:rPr>
                        <a:t> disease</a:t>
                      </a:r>
                    </a:p>
                  </a:txBody>
                  <a:tcPr marL="68582" marR="68582" marT="34289" marB="34289"/>
                </a:tc>
                <a:tc>
                  <a:txBody>
                    <a:bodyPr/>
                    <a:lstStyle/>
                    <a:p>
                      <a:r>
                        <a:rPr sz="1300" dirty="0">
                          <a:latin typeface="Times New Roman" panose="02020603050405020304" pitchFamily="18" charset="0"/>
                          <a:cs typeface="Times New Roman" panose="02020603050405020304" pitchFamily="18" charset="0"/>
                        </a:rPr>
                        <a:t>Springer</a:t>
                      </a:r>
                    </a:p>
                  </a:txBody>
                  <a:tcPr marL="68582" marR="68582" marT="34289" marB="34289"/>
                </a:tc>
                <a:tc>
                  <a:txBody>
                    <a:bodyPr/>
                    <a:lstStyle/>
                    <a:p>
                      <a:r>
                        <a:rPr sz="1300" dirty="0">
                          <a:latin typeface="Times New Roman" panose="02020603050405020304" pitchFamily="18" charset="0"/>
                          <a:cs typeface="Times New Roman" panose="02020603050405020304" pitchFamily="18" charset="0"/>
                        </a:rPr>
                        <a:t>A review of long-term effects, treatment methods, and responses in type 1 Gaucher disease.</a:t>
                      </a:r>
                    </a:p>
                  </a:txBody>
                  <a:tcPr marL="68582" marR="68582" marT="34289" marB="34289"/>
                </a:tc>
                <a:extLst>
                  <a:ext uri="{0D108BD9-81ED-4DB2-BD59-A6C34878D82A}">
                    <a16:rowId xmlns:a16="http://schemas.microsoft.com/office/drawing/2014/main" val="10002"/>
                  </a:ext>
                </a:extLst>
              </a:tr>
              <a:tr h="1032322">
                <a:tc>
                  <a:txBody>
                    <a:bodyPr/>
                    <a:lstStyle/>
                    <a:p>
                      <a:r>
                        <a:rPr sz="1300" dirty="0">
                          <a:latin typeface="Times New Roman" panose="02020603050405020304" pitchFamily="18" charset="0"/>
                          <a:cs typeface="Times New Roman" panose="02020603050405020304" pitchFamily="18" charset="0"/>
                        </a:rPr>
                        <a:t>Hruska et.al. (2008)</a:t>
                      </a:r>
                    </a:p>
                  </a:txBody>
                  <a:tcPr marL="68582" marR="68582" marT="34289" marB="34289"/>
                </a:tc>
                <a:tc>
                  <a:txBody>
                    <a:bodyPr/>
                    <a:lstStyle/>
                    <a:p>
                      <a:r>
                        <a:rPr sz="1300" dirty="0">
                          <a:latin typeface="Times New Roman" panose="02020603050405020304" pitchFamily="18" charset="0"/>
                          <a:cs typeface="Times New Roman" panose="02020603050405020304" pitchFamily="18" charset="0"/>
                        </a:rPr>
                        <a:t>Gaucher disease mutation and polymorphism spectrum in the glucocerebrosidase gene (GBA)</a:t>
                      </a:r>
                    </a:p>
                  </a:txBody>
                  <a:tcPr marL="68582" marR="68582" marT="34289" marB="34289"/>
                </a:tc>
                <a:tc>
                  <a:txBody>
                    <a:bodyPr/>
                    <a:lstStyle/>
                    <a:p>
                      <a:r>
                        <a:rPr sz="1300" dirty="0">
                          <a:latin typeface="Times New Roman" panose="02020603050405020304" pitchFamily="18" charset="0"/>
                          <a:cs typeface="Times New Roman" panose="02020603050405020304" pitchFamily="18" charset="0"/>
                        </a:rPr>
                        <a:t>Wiley Online Library</a:t>
                      </a:r>
                    </a:p>
                  </a:txBody>
                  <a:tcPr marL="68582" marR="68582" marT="34289" marB="34289"/>
                </a:tc>
                <a:tc>
                  <a:txBody>
                    <a:bodyPr/>
                    <a:lstStyle/>
                    <a:p>
                      <a:r>
                        <a:rPr sz="1300" dirty="0">
                          <a:latin typeface="Times New Roman" panose="02020603050405020304" pitchFamily="18" charset="0"/>
                          <a:cs typeface="Times New Roman" panose="02020603050405020304" pitchFamily="18" charset="0"/>
                        </a:rPr>
                        <a:t>Explores mutations in the GBA gene and their association with </a:t>
                      </a:r>
                      <a:r>
                        <a:rPr sz="1300" dirty="0" err="1">
                          <a:latin typeface="Times New Roman" panose="02020603050405020304" pitchFamily="18" charset="0"/>
                          <a:cs typeface="Times New Roman" panose="02020603050405020304" pitchFamily="18" charset="0"/>
                        </a:rPr>
                        <a:t>Gaucher</a:t>
                      </a:r>
                      <a:r>
                        <a:rPr sz="1300" dirty="0">
                          <a:latin typeface="Times New Roman" panose="02020603050405020304" pitchFamily="18" charset="0"/>
                          <a:cs typeface="Times New Roman" panose="02020603050405020304" pitchFamily="18" charset="0"/>
                        </a:rPr>
                        <a:t> disease.</a:t>
                      </a:r>
                    </a:p>
                  </a:txBody>
                  <a:tcPr marL="68582" marR="68582" marT="34289" marB="34289"/>
                </a:tc>
                <a:extLst>
                  <a:ext uri="{0D108BD9-81ED-4DB2-BD59-A6C34878D82A}">
                    <a16:rowId xmlns:a16="http://schemas.microsoft.com/office/drawing/2014/main" val="10003"/>
                  </a:ext>
                </a:extLst>
              </a:tr>
              <a:tr h="869324">
                <a:tc>
                  <a:txBody>
                    <a:bodyPr/>
                    <a:lstStyle/>
                    <a:p>
                      <a:r>
                        <a:rPr sz="1300" dirty="0">
                          <a:latin typeface="Times New Roman" panose="02020603050405020304" pitchFamily="18" charset="0"/>
                          <a:cs typeface="Times New Roman" panose="02020603050405020304" pitchFamily="18" charset="0"/>
                        </a:rPr>
                        <a:t>Daniel Grinberg et.al. (2004)</a:t>
                      </a:r>
                    </a:p>
                  </a:txBody>
                  <a:tcPr marL="68582" marR="68582" marT="34289" marB="34289"/>
                </a:tc>
                <a:tc>
                  <a:txBody>
                    <a:bodyPr/>
                    <a:lstStyle/>
                    <a:p>
                      <a:r>
                        <a:rPr sz="1300" dirty="0">
                          <a:latin typeface="Times New Roman" panose="02020603050405020304" pitchFamily="18" charset="0"/>
                          <a:cs typeface="Times New Roman" panose="02020603050405020304" pitchFamily="18" charset="0"/>
                        </a:rPr>
                        <a:t>Functional analysis of 13 GBA mutant alleles identified in </a:t>
                      </a:r>
                      <a:r>
                        <a:rPr sz="1300" dirty="0" err="1">
                          <a:latin typeface="Times New Roman" panose="02020603050405020304" pitchFamily="18" charset="0"/>
                          <a:cs typeface="Times New Roman" panose="02020603050405020304" pitchFamily="18" charset="0"/>
                        </a:rPr>
                        <a:t>Gaucher</a:t>
                      </a:r>
                      <a:r>
                        <a:rPr sz="1300" dirty="0">
                          <a:latin typeface="Times New Roman" panose="02020603050405020304" pitchFamily="18" charset="0"/>
                          <a:cs typeface="Times New Roman" panose="02020603050405020304" pitchFamily="18" charset="0"/>
                        </a:rPr>
                        <a:t> disease patients</a:t>
                      </a:r>
                    </a:p>
                  </a:txBody>
                  <a:tcPr marL="68582" marR="68582" marT="34289" marB="34289"/>
                </a:tc>
                <a:tc>
                  <a:txBody>
                    <a:bodyPr/>
                    <a:lstStyle/>
                    <a:p>
                      <a:r>
                        <a:rPr sz="1300">
                          <a:latin typeface="Times New Roman" panose="02020603050405020304" pitchFamily="18" charset="0"/>
                          <a:cs typeface="Times New Roman" panose="02020603050405020304" pitchFamily="18" charset="0"/>
                        </a:rPr>
                        <a:t>Wiley Online Library</a:t>
                      </a:r>
                    </a:p>
                  </a:txBody>
                  <a:tcPr marL="68582" marR="68582" marT="34289" marB="34289"/>
                </a:tc>
                <a:tc>
                  <a:txBody>
                    <a:bodyPr/>
                    <a:lstStyle/>
                    <a:p>
                      <a:r>
                        <a:rPr sz="1300" dirty="0">
                          <a:latin typeface="Times New Roman" panose="02020603050405020304" pitchFamily="18" charset="0"/>
                          <a:cs typeface="Times New Roman" panose="02020603050405020304" pitchFamily="18" charset="0"/>
                        </a:rPr>
                        <a:t>Focuses on 200+ mutations in GBA worldwide and their causality in </a:t>
                      </a:r>
                      <a:r>
                        <a:rPr sz="1300" dirty="0" err="1">
                          <a:latin typeface="Times New Roman" panose="02020603050405020304" pitchFamily="18" charset="0"/>
                          <a:cs typeface="Times New Roman" panose="02020603050405020304" pitchFamily="18" charset="0"/>
                        </a:rPr>
                        <a:t>Gaucher</a:t>
                      </a:r>
                      <a:r>
                        <a:rPr sz="1300" dirty="0">
                          <a:latin typeface="Times New Roman" panose="02020603050405020304" pitchFamily="18" charset="0"/>
                          <a:cs typeface="Times New Roman" panose="02020603050405020304" pitchFamily="18" charset="0"/>
                        </a:rPr>
                        <a:t> disease.</a:t>
                      </a:r>
                    </a:p>
                  </a:txBody>
                  <a:tcPr marL="68582" marR="68582" marT="34289" marB="34289"/>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5F58620-552E-40F0-0699-76E6F50A4DF9}"/>
              </a:ext>
            </a:extLst>
          </p:cNvPr>
          <p:cNvGraphicFramePr>
            <a:graphicFrameLocks noGrp="1"/>
          </p:cNvGraphicFramePr>
          <p:nvPr>
            <p:extLst>
              <p:ext uri="{D42A27DB-BD31-4B8C-83A1-F6EECF244321}">
                <p14:modId xmlns:p14="http://schemas.microsoft.com/office/powerpoint/2010/main" val="556256976"/>
              </p:ext>
            </p:extLst>
          </p:nvPr>
        </p:nvGraphicFramePr>
        <p:xfrm>
          <a:off x="408982" y="282479"/>
          <a:ext cx="8326036" cy="4419601"/>
        </p:xfrm>
        <a:graphic>
          <a:graphicData uri="http://schemas.openxmlformats.org/drawingml/2006/table">
            <a:tbl>
              <a:tblPr firstRow="1" bandRow="1">
                <a:tableStyleId>{5C22544A-7EE6-4342-B048-85BDC9FD1C3A}</a:tableStyleId>
              </a:tblPr>
              <a:tblGrid>
                <a:gridCol w="2081509">
                  <a:extLst>
                    <a:ext uri="{9D8B030D-6E8A-4147-A177-3AD203B41FA5}">
                      <a16:colId xmlns:a16="http://schemas.microsoft.com/office/drawing/2014/main" val="20000"/>
                    </a:ext>
                  </a:extLst>
                </a:gridCol>
                <a:gridCol w="2025610">
                  <a:extLst>
                    <a:ext uri="{9D8B030D-6E8A-4147-A177-3AD203B41FA5}">
                      <a16:colId xmlns:a16="http://schemas.microsoft.com/office/drawing/2014/main" val="20001"/>
                    </a:ext>
                  </a:extLst>
                </a:gridCol>
                <a:gridCol w="2137408">
                  <a:extLst>
                    <a:ext uri="{9D8B030D-6E8A-4147-A177-3AD203B41FA5}">
                      <a16:colId xmlns:a16="http://schemas.microsoft.com/office/drawing/2014/main" val="20002"/>
                    </a:ext>
                  </a:extLst>
                </a:gridCol>
                <a:gridCol w="2081509">
                  <a:extLst>
                    <a:ext uri="{9D8B030D-6E8A-4147-A177-3AD203B41FA5}">
                      <a16:colId xmlns:a16="http://schemas.microsoft.com/office/drawing/2014/main" val="20003"/>
                    </a:ext>
                  </a:extLst>
                </a:gridCol>
              </a:tblGrid>
              <a:tr h="333179">
                <a:tc>
                  <a:txBody>
                    <a:bodyPr/>
                    <a:lstStyle/>
                    <a:p>
                      <a:r>
                        <a:rPr sz="1400" dirty="0">
                          <a:latin typeface="Times New Roman" panose="02020603050405020304" pitchFamily="18" charset="0"/>
                          <a:cs typeface="Times New Roman" panose="02020603050405020304" pitchFamily="18" charset="0"/>
                        </a:rPr>
                        <a:t>AUTHOR AND YEAR</a:t>
                      </a:r>
                    </a:p>
                  </a:txBody>
                  <a:tcPr marL="68580" marR="68580" marT="34290" marB="34290"/>
                </a:tc>
                <a:tc>
                  <a:txBody>
                    <a:bodyPr/>
                    <a:lstStyle/>
                    <a:p>
                      <a:r>
                        <a:rPr sz="1400">
                          <a:latin typeface="Times New Roman" panose="02020603050405020304" pitchFamily="18" charset="0"/>
                          <a:cs typeface="Times New Roman" panose="02020603050405020304" pitchFamily="18" charset="0"/>
                        </a:rPr>
                        <a:t>TITLE</a:t>
                      </a:r>
                    </a:p>
                  </a:txBody>
                  <a:tcPr marL="68580" marR="68580" marT="34290" marB="34290"/>
                </a:tc>
                <a:tc>
                  <a:txBody>
                    <a:bodyPr/>
                    <a:lstStyle/>
                    <a:p>
                      <a:r>
                        <a:rPr sz="1400" dirty="0">
                          <a:latin typeface="Times New Roman" panose="02020603050405020304" pitchFamily="18" charset="0"/>
                          <a:cs typeface="Times New Roman" panose="02020603050405020304" pitchFamily="18" charset="0"/>
                        </a:rPr>
                        <a:t>JOURNAL</a:t>
                      </a:r>
                    </a:p>
                  </a:txBody>
                  <a:tcPr marL="68580" marR="68580" marT="34290" marB="34290"/>
                </a:tc>
                <a:tc>
                  <a:txBody>
                    <a:bodyPr/>
                    <a:lstStyle/>
                    <a:p>
                      <a:r>
                        <a:rPr sz="1400">
                          <a:latin typeface="Times New Roman" panose="02020603050405020304" pitchFamily="18" charset="0"/>
                          <a:cs typeface="Times New Roman" panose="02020603050405020304" pitchFamily="18" charset="0"/>
                        </a:rPr>
                        <a:t>RESEARCH FINDINGS</a:t>
                      </a:r>
                    </a:p>
                  </a:txBody>
                  <a:tcPr marL="68580" marR="68580" marT="34290" marB="34290"/>
                </a:tc>
                <a:extLst>
                  <a:ext uri="{0D108BD9-81ED-4DB2-BD59-A6C34878D82A}">
                    <a16:rowId xmlns:a16="http://schemas.microsoft.com/office/drawing/2014/main" val="10000"/>
                  </a:ext>
                </a:extLst>
              </a:tr>
              <a:tr h="1241589">
                <a:tc>
                  <a:txBody>
                    <a:bodyPr/>
                    <a:lstStyle/>
                    <a:p>
                      <a:r>
                        <a:rPr sz="1400" dirty="0">
                          <a:latin typeface="Times New Roman" panose="02020603050405020304" pitchFamily="18" charset="0"/>
                          <a:cs typeface="Times New Roman" panose="02020603050405020304" pitchFamily="18" charset="0"/>
                        </a:rPr>
                        <a:t>Walker et.al. (2002)</a:t>
                      </a:r>
                    </a:p>
                  </a:txBody>
                  <a:tcPr marL="68580" marR="68580" marT="34290" marB="34290"/>
                </a:tc>
                <a:tc>
                  <a:txBody>
                    <a:bodyPr/>
                    <a:lstStyle/>
                    <a:p>
                      <a:r>
                        <a:rPr sz="1400" dirty="0">
                          <a:latin typeface="Times New Roman" panose="02020603050405020304" pitchFamily="18" charset="0"/>
                          <a:cs typeface="Times New Roman" panose="02020603050405020304" pitchFamily="18" charset="0"/>
                        </a:rPr>
                        <a:t>The identification of eight novel </a:t>
                      </a:r>
                      <a:r>
                        <a:rPr sz="1400" dirty="0" err="1">
                          <a:latin typeface="Times New Roman" panose="02020603050405020304" pitchFamily="18" charset="0"/>
                          <a:cs typeface="Times New Roman" panose="02020603050405020304" pitchFamily="18" charset="0"/>
                        </a:rPr>
                        <a:t>glucocerebrosidase</a:t>
                      </a:r>
                      <a:r>
                        <a:rPr sz="1400" dirty="0">
                          <a:latin typeface="Times New Roman" panose="02020603050405020304" pitchFamily="18" charset="0"/>
                          <a:cs typeface="Times New Roman" panose="02020603050405020304" pitchFamily="18" charset="0"/>
                        </a:rPr>
                        <a:t> (GBA) mutations in patients with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a:t>
                      </a:r>
                    </a:p>
                  </a:txBody>
                  <a:tcPr marL="68580" marR="68580" marT="34290" marB="34290"/>
                </a:tc>
                <a:tc>
                  <a:txBody>
                    <a:bodyPr/>
                    <a:lstStyle/>
                    <a:p>
                      <a:r>
                        <a:rPr sz="1400" dirty="0">
                          <a:latin typeface="Times New Roman" panose="02020603050405020304" pitchFamily="18" charset="0"/>
                          <a:cs typeface="Times New Roman" panose="02020603050405020304" pitchFamily="18" charset="0"/>
                        </a:rPr>
                        <a:t>Wiley Online Library</a:t>
                      </a:r>
                    </a:p>
                  </a:txBody>
                  <a:tcPr marL="68580" marR="68580" marT="34290" marB="34290"/>
                </a:tc>
                <a:tc>
                  <a:txBody>
                    <a:bodyPr/>
                    <a:lstStyle/>
                    <a:p>
                      <a:r>
                        <a:rPr sz="1400">
                          <a:latin typeface="Times New Roman" panose="02020603050405020304" pitchFamily="18" charset="0"/>
                          <a:cs typeface="Times New Roman" panose="02020603050405020304" pitchFamily="18" charset="0"/>
                        </a:rPr>
                        <a:t>Identified seven novel missense mutations and one splice site mutation in GBA gene.</a:t>
                      </a:r>
                    </a:p>
                  </a:txBody>
                  <a:tcPr marL="68580" marR="68580" marT="34290" marB="34290"/>
                </a:tc>
                <a:extLst>
                  <a:ext uri="{0D108BD9-81ED-4DB2-BD59-A6C34878D82A}">
                    <a16:rowId xmlns:a16="http://schemas.microsoft.com/office/drawing/2014/main" val="10001"/>
                  </a:ext>
                </a:extLst>
              </a:tr>
              <a:tr h="1025165">
                <a:tc>
                  <a:txBody>
                    <a:bodyPr/>
                    <a:lstStyle/>
                    <a:p>
                      <a:r>
                        <a:rPr sz="1400" dirty="0">
                          <a:latin typeface="Times New Roman" panose="02020603050405020304" pitchFamily="18" charset="0"/>
                          <a:cs typeface="Times New Roman" panose="02020603050405020304" pitchFamily="18" charset="0"/>
                        </a:rPr>
                        <a:t>Marc</a:t>
                      </a:r>
                      <a:r>
                        <a:rPr lang="en-US" sz="1400" dirty="0">
                          <a:latin typeface="Times New Roman" panose="02020603050405020304" pitchFamily="18" charset="0"/>
                          <a:cs typeface="Times New Roman" panose="02020603050405020304" pitchFamily="18" charset="0"/>
                        </a:rPr>
                        <a:t> </a:t>
                      </a:r>
                      <a:r>
                        <a:rPr sz="1400" dirty="0">
                          <a:latin typeface="Times New Roman" panose="02020603050405020304" pitchFamily="18" charset="0"/>
                          <a:cs typeface="Times New Roman" panose="02020603050405020304" pitchFamily="18" charset="0"/>
                        </a:rPr>
                        <a:t>Berger et.al. (2017)</a:t>
                      </a:r>
                    </a:p>
                  </a:txBody>
                  <a:tcPr marL="68580" marR="68580" marT="34290" marB="34290"/>
                </a:tc>
                <a:tc>
                  <a:txBody>
                    <a:bodyPr/>
                    <a:lstStyle/>
                    <a:p>
                      <a:r>
                        <a:rPr sz="1400" dirty="0">
                          <a:latin typeface="Times New Roman" panose="02020603050405020304" pitchFamily="18" charset="0"/>
                          <a:cs typeface="Times New Roman" panose="02020603050405020304" pitchFamily="18" charset="0"/>
                        </a:rPr>
                        <a:t>A Review of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 Pathophysiology, Clinical Presentation and Treatments</a:t>
                      </a:r>
                    </a:p>
                  </a:txBody>
                  <a:tcPr marL="68580" marR="68580" marT="34290" marB="34290"/>
                </a:tc>
                <a:tc>
                  <a:txBody>
                    <a:bodyPr/>
                    <a:lstStyle/>
                    <a:p>
                      <a:r>
                        <a:rPr lang="en-US" sz="1400" dirty="0">
                          <a:latin typeface="Times New Roman" panose="02020603050405020304" pitchFamily="18" charset="0"/>
                          <a:cs typeface="Times New Roman" panose="02020603050405020304" pitchFamily="18" charset="0"/>
                        </a:rPr>
                        <a:t>Springer</a:t>
                      </a:r>
                      <a:endParaRPr sz="1400" dirty="0">
                        <a:latin typeface="Times New Roman" panose="02020603050405020304" pitchFamily="18" charset="0"/>
                        <a:cs typeface="Times New Roman" panose="02020603050405020304" pitchFamily="18" charset="0"/>
                      </a:endParaRPr>
                    </a:p>
                  </a:txBody>
                  <a:tcPr marL="68580" marR="68580" marT="34290" marB="34290"/>
                </a:tc>
                <a:tc>
                  <a:txBody>
                    <a:bodyPr/>
                    <a:lstStyle/>
                    <a:p>
                      <a:r>
                        <a:rPr sz="1400">
                          <a:latin typeface="Times New Roman" panose="02020603050405020304" pitchFamily="18" charset="0"/>
                          <a:cs typeface="Times New Roman" panose="02020603050405020304" pitchFamily="18" charset="0"/>
                        </a:rPr>
                        <a:t>Discusses recent advances in Gaucher disease treatment, including new enzymes and inhibitors.</a:t>
                      </a:r>
                    </a:p>
                  </a:txBody>
                  <a:tcPr marL="68580" marR="68580" marT="34290" marB="34290"/>
                </a:tc>
                <a:extLst>
                  <a:ext uri="{0D108BD9-81ED-4DB2-BD59-A6C34878D82A}">
                    <a16:rowId xmlns:a16="http://schemas.microsoft.com/office/drawing/2014/main" val="10002"/>
                  </a:ext>
                </a:extLst>
              </a:tr>
              <a:tr h="1025165">
                <a:tc>
                  <a:txBody>
                    <a:bodyPr/>
                    <a:lstStyle/>
                    <a:p>
                      <a:r>
                        <a:rPr sz="1400" dirty="0">
                          <a:latin typeface="Times New Roman" panose="02020603050405020304" pitchFamily="18" charset="0"/>
                          <a:cs typeface="Times New Roman" panose="02020603050405020304" pitchFamily="18" charset="0"/>
                        </a:rPr>
                        <a:t>Grace et.al. (2015)</a:t>
                      </a:r>
                    </a:p>
                  </a:txBody>
                  <a:tcPr marL="68580" marR="68580" marT="34290" marB="34290"/>
                </a:tc>
                <a:tc>
                  <a:txBody>
                    <a:bodyPr/>
                    <a:lstStyle/>
                    <a:p>
                      <a:r>
                        <a:rPr sz="1400">
                          <a:latin typeface="Times New Roman" panose="02020603050405020304" pitchFamily="18" charset="0"/>
                          <a:cs typeface="Times New Roman" panose="02020603050405020304" pitchFamily="18" charset="0"/>
                        </a:rPr>
                        <a:t>Biochemical and genetic markers in Gaucher disease type 1</a:t>
                      </a:r>
                    </a:p>
                  </a:txBody>
                  <a:tcPr marL="68580" marR="68580" marT="34290" marB="34290"/>
                </a:tc>
                <a:tc>
                  <a:txBody>
                    <a:bodyPr/>
                    <a:lstStyle/>
                    <a:p>
                      <a:r>
                        <a:rPr sz="1400" dirty="0">
                          <a:latin typeface="Times New Roman" panose="02020603050405020304" pitchFamily="18" charset="0"/>
                          <a:cs typeface="Times New Roman" panose="02020603050405020304" pitchFamily="18" charset="0"/>
                        </a:rPr>
                        <a:t>Journal of Inherited Metabolic Disease</a:t>
                      </a:r>
                    </a:p>
                  </a:txBody>
                  <a:tcPr marL="68580" marR="68580" marT="34290" marB="34290"/>
                </a:tc>
                <a:tc>
                  <a:txBody>
                    <a:bodyPr/>
                    <a:lstStyle/>
                    <a:p>
                      <a:r>
                        <a:rPr sz="1400">
                          <a:latin typeface="Times New Roman" panose="02020603050405020304" pitchFamily="18" charset="0"/>
                          <a:cs typeface="Times New Roman" panose="02020603050405020304" pitchFamily="18" charset="0"/>
                        </a:rPr>
                        <a:t>Highlights advancements in biochemical markers and enzyme replacement therapy.</a:t>
                      </a:r>
                    </a:p>
                  </a:txBody>
                  <a:tcPr marL="68580" marR="68580" marT="34290" marB="34290"/>
                </a:tc>
                <a:extLst>
                  <a:ext uri="{0D108BD9-81ED-4DB2-BD59-A6C34878D82A}">
                    <a16:rowId xmlns:a16="http://schemas.microsoft.com/office/drawing/2014/main" val="10003"/>
                  </a:ext>
                </a:extLst>
              </a:tr>
              <a:tr h="794503">
                <a:tc>
                  <a:txBody>
                    <a:bodyPr/>
                    <a:lstStyle/>
                    <a:p>
                      <a:r>
                        <a:rPr sz="1400" dirty="0">
                          <a:latin typeface="Times New Roman" panose="02020603050405020304" pitchFamily="18" charset="0"/>
                          <a:cs typeface="Times New Roman" panose="02020603050405020304" pitchFamily="18" charset="0"/>
                        </a:rPr>
                        <a:t>Beutler et.al. (2006)</a:t>
                      </a:r>
                    </a:p>
                  </a:txBody>
                  <a:tcPr marL="68580" marR="68580" marT="34290" marB="34290"/>
                </a:tc>
                <a:tc>
                  <a:txBody>
                    <a:bodyPr/>
                    <a:lstStyle/>
                    <a:p>
                      <a:r>
                        <a:rPr sz="1400" dirty="0">
                          <a:latin typeface="Times New Roman" panose="02020603050405020304" pitchFamily="18" charset="0"/>
                          <a:cs typeface="Times New Roman" panose="02020603050405020304" pitchFamily="18" charset="0"/>
                        </a:rPr>
                        <a:t>Gene therapy perspectives for Gaucher disease</a:t>
                      </a:r>
                    </a:p>
                  </a:txBody>
                  <a:tcPr marL="68580" marR="68580" marT="34290" marB="34290"/>
                </a:tc>
                <a:tc>
                  <a:txBody>
                    <a:bodyPr/>
                    <a:lstStyle/>
                    <a:p>
                      <a:r>
                        <a:rPr sz="1400" dirty="0">
                          <a:latin typeface="Times New Roman" panose="02020603050405020304" pitchFamily="18" charset="0"/>
                          <a:cs typeface="Times New Roman" panose="02020603050405020304" pitchFamily="18" charset="0"/>
                        </a:rPr>
                        <a:t>Human Gene Therapy</a:t>
                      </a:r>
                    </a:p>
                  </a:txBody>
                  <a:tcPr marL="68580" marR="68580" marT="34290" marB="34290"/>
                </a:tc>
                <a:tc>
                  <a:txBody>
                    <a:bodyPr/>
                    <a:lstStyle/>
                    <a:p>
                      <a:r>
                        <a:rPr sz="1400" dirty="0">
                          <a:latin typeface="Times New Roman" panose="02020603050405020304" pitchFamily="18" charset="0"/>
                          <a:cs typeface="Times New Roman" panose="02020603050405020304" pitchFamily="18" charset="0"/>
                        </a:rPr>
                        <a:t>Examines CRISPR technology's potential to correct GBA mutations.</a:t>
                      </a:r>
                    </a:p>
                  </a:txBody>
                  <a:tcPr marL="68580" marR="68580" marT="34290" marB="34290"/>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B3A7AE8-ABBD-1573-0580-E53870E0BD04}"/>
              </a:ext>
            </a:extLst>
          </p:cNvPr>
          <p:cNvGraphicFramePr>
            <a:graphicFrameLocks noGrp="1"/>
          </p:cNvGraphicFramePr>
          <p:nvPr>
            <p:extLst>
              <p:ext uri="{D42A27DB-BD31-4B8C-83A1-F6EECF244321}">
                <p14:modId xmlns:p14="http://schemas.microsoft.com/office/powerpoint/2010/main" val="2477153914"/>
              </p:ext>
            </p:extLst>
          </p:nvPr>
        </p:nvGraphicFramePr>
        <p:xfrm>
          <a:off x="246490" y="190893"/>
          <a:ext cx="8651019" cy="4761713"/>
        </p:xfrm>
        <a:graphic>
          <a:graphicData uri="http://schemas.openxmlformats.org/drawingml/2006/table">
            <a:tbl>
              <a:tblPr firstRow="1" bandRow="1">
                <a:tableStyleId>{5C22544A-7EE6-4342-B048-85BDC9FD1C3A}</a:tableStyleId>
              </a:tblPr>
              <a:tblGrid>
                <a:gridCol w="2162755">
                  <a:extLst>
                    <a:ext uri="{9D8B030D-6E8A-4147-A177-3AD203B41FA5}">
                      <a16:colId xmlns:a16="http://schemas.microsoft.com/office/drawing/2014/main" val="20000"/>
                    </a:ext>
                  </a:extLst>
                </a:gridCol>
                <a:gridCol w="2107239">
                  <a:extLst>
                    <a:ext uri="{9D8B030D-6E8A-4147-A177-3AD203B41FA5}">
                      <a16:colId xmlns:a16="http://schemas.microsoft.com/office/drawing/2014/main" val="20001"/>
                    </a:ext>
                  </a:extLst>
                </a:gridCol>
                <a:gridCol w="2218270">
                  <a:extLst>
                    <a:ext uri="{9D8B030D-6E8A-4147-A177-3AD203B41FA5}">
                      <a16:colId xmlns:a16="http://schemas.microsoft.com/office/drawing/2014/main" val="20002"/>
                    </a:ext>
                  </a:extLst>
                </a:gridCol>
                <a:gridCol w="2162755">
                  <a:extLst>
                    <a:ext uri="{9D8B030D-6E8A-4147-A177-3AD203B41FA5}">
                      <a16:colId xmlns:a16="http://schemas.microsoft.com/office/drawing/2014/main" val="20003"/>
                    </a:ext>
                  </a:extLst>
                </a:gridCol>
              </a:tblGrid>
              <a:tr h="375923">
                <a:tc>
                  <a:txBody>
                    <a:bodyPr/>
                    <a:lstStyle/>
                    <a:p>
                      <a:r>
                        <a:rPr sz="1400" dirty="0">
                          <a:latin typeface="Times New Roman" panose="02020603050405020304" pitchFamily="18" charset="0"/>
                          <a:cs typeface="Times New Roman" panose="02020603050405020304" pitchFamily="18" charset="0"/>
                        </a:rPr>
                        <a:t>AUTHOR AND YEAR</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TITLE</a:t>
                      </a:r>
                    </a:p>
                  </a:txBody>
                  <a:tcPr marL="68582" marR="68582" marT="34284" marB="34284"/>
                </a:tc>
                <a:tc>
                  <a:txBody>
                    <a:bodyPr/>
                    <a:lstStyle/>
                    <a:p>
                      <a:r>
                        <a:rPr sz="1400">
                          <a:latin typeface="Times New Roman" panose="02020603050405020304" pitchFamily="18" charset="0"/>
                          <a:cs typeface="Times New Roman" panose="02020603050405020304" pitchFamily="18" charset="0"/>
                        </a:rPr>
                        <a:t>JOURNAL</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RESEARCH FINDINGS</a:t>
                      </a:r>
                    </a:p>
                  </a:txBody>
                  <a:tcPr marL="68582" marR="68582" marT="34284" marB="34284"/>
                </a:tc>
                <a:extLst>
                  <a:ext uri="{0D108BD9-81ED-4DB2-BD59-A6C34878D82A}">
                    <a16:rowId xmlns:a16="http://schemas.microsoft.com/office/drawing/2014/main" val="10000"/>
                  </a:ext>
                </a:extLst>
              </a:tr>
              <a:tr h="1416944">
                <a:tc>
                  <a:txBody>
                    <a:bodyPr/>
                    <a:lstStyle/>
                    <a:p>
                      <a:r>
                        <a:rPr sz="1400" dirty="0">
                          <a:latin typeface="Times New Roman" panose="02020603050405020304" pitchFamily="18" charset="0"/>
                          <a:cs typeface="Times New Roman" panose="02020603050405020304" pitchFamily="18" charset="0"/>
                        </a:rPr>
                        <a:t>Cox et.al. (2020)</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The impact of substrate reduction therapy on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 outcomes</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Therapeutic Advances in Rare Disease</a:t>
                      </a:r>
                    </a:p>
                  </a:txBody>
                  <a:tcPr marL="68582" marR="68582" marT="34284" marB="34284"/>
                </a:tc>
                <a:tc>
                  <a:txBody>
                    <a:bodyPr/>
                    <a:lstStyle/>
                    <a:p>
                      <a:r>
                        <a:rPr sz="1400">
                          <a:latin typeface="Times New Roman" panose="02020603050405020304" pitchFamily="18" charset="0"/>
                          <a:cs typeface="Times New Roman" panose="02020603050405020304" pitchFamily="18" charset="0"/>
                        </a:rPr>
                        <a:t>Analyzes substrate reduction therapy as an alternative or adjunct to enzyme replacement therapy.</a:t>
                      </a:r>
                    </a:p>
                  </a:txBody>
                  <a:tcPr marL="68582" marR="68582" marT="34284" marB="34284"/>
                </a:tc>
                <a:extLst>
                  <a:ext uri="{0D108BD9-81ED-4DB2-BD59-A6C34878D82A}">
                    <a16:rowId xmlns:a16="http://schemas.microsoft.com/office/drawing/2014/main" val="10001"/>
                  </a:ext>
                </a:extLst>
              </a:tr>
              <a:tr h="1156690">
                <a:tc>
                  <a:txBody>
                    <a:bodyPr/>
                    <a:lstStyle/>
                    <a:p>
                      <a:r>
                        <a:rPr sz="1400" dirty="0">
                          <a:latin typeface="Times New Roman" panose="02020603050405020304" pitchFamily="18" charset="0"/>
                          <a:cs typeface="Times New Roman" panose="02020603050405020304" pitchFamily="18" charset="0"/>
                        </a:rPr>
                        <a:t>Pastores et.al. (2013)</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Neurological involvement in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 Challenges in diagnosis and management</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Neurology Journal</a:t>
                      </a:r>
                    </a:p>
                  </a:txBody>
                  <a:tcPr marL="68582" marR="68582" marT="34284" marB="34284"/>
                </a:tc>
                <a:tc>
                  <a:txBody>
                    <a:bodyPr/>
                    <a:lstStyle/>
                    <a:p>
                      <a:r>
                        <a:rPr sz="1400">
                          <a:latin typeface="Times New Roman" panose="02020603050405020304" pitchFamily="18" charset="0"/>
                          <a:cs typeface="Times New Roman" panose="02020603050405020304" pitchFamily="18" charset="0"/>
                        </a:rPr>
                        <a:t>Highlights diagnostic complexities and management of neurological symptoms.</a:t>
                      </a:r>
                    </a:p>
                  </a:txBody>
                  <a:tcPr marL="68582" marR="68582" marT="34284" marB="34284"/>
                </a:tc>
                <a:extLst>
                  <a:ext uri="{0D108BD9-81ED-4DB2-BD59-A6C34878D82A}">
                    <a16:rowId xmlns:a16="http://schemas.microsoft.com/office/drawing/2014/main" val="10002"/>
                  </a:ext>
                </a:extLst>
              </a:tr>
              <a:tr h="896434">
                <a:tc>
                  <a:txBody>
                    <a:bodyPr/>
                    <a:lstStyle/>
                    <a:p>
                      <a:r>
                        <a:rPr sz="1400" dirty="0">
                          <a:latin typeface="Times New Roman" panose="02020603050405020304" pitchFamily="18" charset="0"/>
                          <a:cs typeface="Times New Roman" panose="02020603050405020304" pitchFamily="18" charset="0"/>
                        </a:rPr>
                        <a:t>Arends et.al. (2018)</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Phenotypic variability in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Journal of Inherited Metabolic Disease</a:t>
                      </a:r>
                    </a:p>
                  </a:txBody>
                  <a:tcPr marL="68582" marR="68582" marT="34284" marB="34284"/>
                </a:tc>
                <a:tc>
                  <a:txBody>
                    <a:bodyPr/>
                    <a:lstStyle/>
                    <a:p>
                      <a:r>
                        <a:rPr sz="1400">
                          <a:latin typeface="Times New Roman" panose="02020603050405020304" pitchFamily="18" charset="0"/>
                          <a:cs typeface="Times New Roman" panose="02020603050405020304" pitchFamily="18" charset="0"/>
                        </a:rPr>
                        <a:t>Focuses on genotype-phenotype correlations for personalized treatment.</a:t>
                      </a:r>
                    </a:p>
                  </a:txBody>
                  <a:tcPr marL="68582" marR="68582" marT="34284" marB="34284"/>
                </a:tc>
                <a:extLst>
                  <a:ext uri="{0D108BD9-81ED-4DB2-BD59-A6C34878D82A}">
                    <a16:rowId xmlns:a16="http://schemas.microsoft.com/office/drawing/2014/main" val="10003"/>
                  </a:ext>
                </a:extLst>
              </a:tr>
              <a:tr h="915722">
                <a:tc>
                  <a:txBody>
                    <a:bodyPr/>
                    <a:lstStyle/>
                    <a:p>
                      <a:r>
                        <a:rPr lang="en-US" sz="1400" dirty="0">
                          <a:latin typeface="Times New Roman" panose="02020603050405020304" pitchFamily="18" charset="0"/>
                          <a:cs typeface="Times New Roman" panose="02020603050405020304" pitchFamily="18" charset="0"/>
                        </a:rPr>
                        <a:t>Rosenbloom et.al. (2011)</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Gaucher disease: Pathophysiology and treatment approaches</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Current Opinion in Hematology</a:t>
                      </a:r>
                    </a:p>
                  </a:txBody>
                  <a:tcPr marL="68582" marR="68582" marT="34284" marB="34284"/>
                </a:tc>
                <a:tc>
                  <a:txBody>
                    <a:bodyPr/>
                    <a:lstStyle/>
                    <a:p>
                      <a:r>
                        <a:rPr sz="1400" dirty="0">
                          <a:latin typeface="Times New Roman" panose="02020603050405020304" pitchFamily="18" charset="0"/>
                          <a:cs typeface="Times New Roman" panose="02020603050405020304" pitchFamily="18" charset="0"/>
                        </a:rPr>
                        <a:t>Reviews pathophysiology and emerging therapeutic strategies.</a:t>
                      </a:r>
                    </a:p>
                  </a:txBody>
                  <a:tcPr marL="68582" marR="68582" marT="34284" marB="34284"/>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32E23B6-327F-89B0-4CDF-C95625E9166E}"/>
              </a:ext>
            </a:extLst>
          </p:cNvPr>
          <p:cNvGraphicFramePr>
            <a:graphicFrameLocks noGrp="1"/>
          </p:cNvGraphicFramePr>
          <p:nvPr>
            <p:custDataLst>
              <p:tags r:id="rId1"/>
            </p:custDataLst>
            <p:extLst>
              <p:ext uri="{D42A27DB-BD31-4B8C-83A1-F6EECF244321}">
                <p14:modId xmlns:p14="http://schemas.microsoft.com/office/powerpoint/2010/main" val="3275643260"/>
              </p:ext>
            </p:extLst>
          </p:nvPr>
        </p:nvGraphicFramePr>
        <p:xfrm>
          <a:off x="482124" y="365250"/>
          <a:ext cx="8179752" cy="4560887"/>
        </p:xfrm>
        <a:graphic>
          <a:graphicData uri="http://schemas.openxmlformats.org/drawingml/2006/table">
            <a:tbl>
              <a:tblPr firstRow="1" bandRow="1">
                <a:tableStyleId>{5C22544A-7EE6-4342-B048-85BDC9FD1C3A}</a:tableStyleId>
              </a:tblPr>
              <a:tblGrid>
                <a:gridCol w="2044938">
                  <a:extLst>
                    <a:ext uri="{9D8B030D-6E8A-4147-A177-3AD203B41FA5}">
                      <a16:colId xmlns:a16="http://schemas.microsoft.com/office/drawing/2014/main" val="20000"/>
                    </a:ext>
                  </a:extLst>
                </a:gridCol>
                <a:gridCol w="2044938">
                  <a:extLst>
                    <a:ext uri="{9D8B030D-6E8A-4147-A177-3AD203B41FA5}">
                      <a16:colId xmlns:a16="http://schemas.microsoft.com/office/drawing/2014/main" val="20001"/>
                    </a:ext>
                  </a:extLst>
                </a:gridCol>
                <a:gridCol w="2044938">
                  <a:extLst>
                    <a:ext uri="{9D8B030D-6E8A-4147-A177-3AD203B41FA5}">
                      <a16:colId xmlns:a16="http://schemas.microsoft.com/office/drawing/2014/main" val="20002"/>
                    </a:ext>
                  </a:extLst>
                </a:gridCol>
                <a:gridCol w="2044938">
                  <a:extLst>
                    <a:ext uri="{9D8B030D-6E8A-4147-A177-3AD203B41FA5}">
                      <a16:colId xmlns:a16="http://schemas.microsoft.com/office/drawing/2014/main" val="20003"/>
                    </a:ext>
                  </a:extLst>
                </a:gridCol>
              </a:tblGrid>
              <a:tr h="309213">
                <a:tc>
                  <a:txBody>
                    <a:bodyPr/>
                    <a:lstStyle/>
                    <a:p>
                      <a:r>
                        <a:rPr sz="1400" dirty="0">
                          <a:latin typeface="Times New Roman" panose="02020603050405020304" pitchFamily="18" charset="0"/>
                          <a:cs typeface="Times New Roman" panose="02020603050405020304" pitchFamily="18" charset="0"/>
                        </a:rPr>
                        <a:t>AUTHOR AND YEAR</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TITLE</a:t>
                      </a:r>
                    </a:p>
                  </a:txBody>
                  <a:tcPr marL="68578" marR="68578" marT="34288" marB="34288"/>
                </a:tc>
                <a:tc>
                  <a:txBody>
                    <a:bodyPr/>
                    <a:lstStyle/>
                    <a:p>
                      <a:r>
                        <a:rPr sz="1400">
                          <a:latin typeface="Times New Roman" panose="02020603050405020304" pitchFamily="18" charset="0"/>
                          <a:cs typeface="Times New Roman" panose="02020603050405020304" pitchFamily="18" charset="0"/>
                        </a:rPr>
                        <a:t>JOURNAL</a:t>
                      </a:r>
                    </a:p>
                  </a:txBody>
                  <a:tcPr marL="68578" marR="68578" marT="34288" marB="34288"/>
                </a:tc>
                <a:tc>
                  <a:txBody>
                    <a:bodyPr/>
                    <a:lstStyle/>
                    <a:p>
                      <a:r>
                        <a:rPr sz="1400">
                          <a:latin typeface="Times New Roman" panose="02020603050405020304" pitchFamily="18" charset="0"/>
                          <a:cs typeface="Times New Roman" panose="02020603050405020304" pitchFamily="18" charset="0"/>
                        </a:rPr>
                        <a:t>RESEARCH FINDINGS</a:t>
                      </a:r>
                    </a:p>
                  </a:txBody>
                  <a:tcPr marL="68578" marR="68578" marT="34288" marB="34288"/>
                </a:tc>
                <a:extLst>
                  <a:ext uri="{0D108BD9-81ED-4DB2-BD59-A6C34878D82A}">
                    <a16:rowId xmlns:a16="http://schemas.microsoft.com/office/drawing/2014/main" val="10000"/>
                  </a:ext>
                </a:extLst>
              </a:tr>
              <a:tr h="1004941">
                <a:tc>
                  <a:txBody>
                    <a:bodyPr/>
                    <a:lstStyle/>
                    <a:p>
                      <a:r>
                        <a:rPr sz="1400" dirty="0">
                          <a:latin typeface="Times New Roman" panose="02020603050405020304" pitchFamily="18" charset="0"/>
                          <a:cs typeface="Times New Roman" panose="02020603050405020304" pitchFamily="18" charset="0"/>
                        </a:rPr>
                        <a:t>Shachar et.al. (2017)</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The role of autophagy in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a:t>
                      </a:r>
                    </a:p>
                  </a:txBody>
                  <a:tcPr marL="68578" marR="68578" marT="34288" marB="34288"/>
                </a:tc>
                <a:tc>
                  <a:txBody>
                    <a:bodyPr/>
                    <a:lstStyle/>
                    <a:p>
                      <a:r>
                        <a:rPr sz="1400">
                          <a:latin typeface="Times New Roman" panose="02020603050405020304" pitchFamily="18" charset="0"/>
                          <a:cs typeface="Times New Roman" panose="02020603050405020304" pitchFamily="18" charset="0"/>
                        </a:rPr>
                        <a:t>Autophagy Journal</a:t>
                      </a:r>
                    </a:p>
                  </a:txBody>
                  <a:tcPr marL="68578" marR="68578" marT="34288" marB="34288"/>
                </a:tc>
                <a:tc>
                  <a:txBody>
                    <a:bodyPr/>
                    <a:lstStyle/>
                    <a:p>
                      <a:r>
                        <a:rPr sz="1400">
                          <a:latin typeface="Times New Roman" panose="02020603050405020304" pitchFamily="18" charset="0"/>
                          <a:cs typeface="Times New Roman" panose="02020603050405020304" pitchFamily="18" charset="0"/>
                        </a:rPr>
                        <a:t>Links lysosomal dysfunction to cellular stress and neurodegeneration.</a:t>
                      </a:r>
                    </a:p>
                  </a:txBody>
                  <a:tcPr marL="68578" marR="68578" marT="34288" marB="34288"/>
                </a:tc>
                <a:extLst>
                  <a:ext uri="{0D108BD9-81ED-4DB2-BD59-A6C34878D82A}">
                    <a16:rowId xmlns:a16="http://schemas.microsoft.com/office/drawing/2014/main" val="10001"/>
                  </a:ext>
                </a:extLst>
              </a:tr>
              <a:tr h="1236851">
                <a:tc>
                  <a:txBody>
                    <a:bodyPr/>
                    <a:lstStyle/>
                    <a:p>
                      <a:r>
                        <a:rPr sz="1400" dirty="0">
                          <a:latin typeface="Times New Roman" panose="02020603050405020304" pitchFamily="18" charset="0"/>
                          <a:cs typeface="Times New Roman" panose="02020603050405020304" pitchFamily="18" charset="0"/>
                        </a:rPr>
                        <a:t>Stirnemann et.al. (2017)</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A review of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 epidemiology and global burden</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Orphanet Journal of Rare Diseases</a:t>
                      </a:r>
                    </a:p>
                  </a:txBody>
                  <a:tcPr marL="68578" marR="68578" marT="34288" marB="34288"/>
                </a:tc>
                <a:tc>
                  <a:txBody>
                    <a:bodyPr/>
                    <a:lstStyle/>
                    <a:p>
                      <a:r>
                        <a:rPr sz="1400">
                          <a:latin typeface="Times New Roman" panose="02020603050405020304" pitchFamily="18" charset="0"/>
                          <a:cs typeface="Times New Roman" panose="02020603050405020304" pitchFamily="18" charset="0"/>
                        </a:rPr>
                        <a:t>Explores demographic variations and socioeconomic impact.</a:t>
                      </a:r>
                    </a:p>
                  </a:txBody>
                  <a:tcPr marL="68578" marR="68578" marT="34288" marB="34288"/>
                </a:tc>
                <a:extLst>
                  <a:ext uri="{0D108BD9-81ED-4DB2-BD59-A6C34878D82A}">
                    <a16:rowId xmlns:a16="http://schemas.microsoft.com/office/drawing/2014/main" val="10002"/>
                  </a:ext>
                </a:extLst>
              </a:tr>
              <a:tr h="1004941">
                <a:tc>
                  <a:txBody>
                    <a:bodyPr/>
                    <a:lstStyle/>
                    <a:p>
                      <a:r>
                        <a:rPr sz="1400" dirty="0">
                          <a:latin typeface="Times New Roman" panose="02020603050405020304" pitchFamily="18" charset="0"/>
                          <a:cs typeface="Times New Roman" panose="02020603050405020304" pitchFamily="18" charset="0"/>
                        </a:rPr>
                        <a:t>Mistry et.al. (2010)</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Enzyme replacement and substrate reduction therapies in Gaucher disease</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The Lancet</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Evaluates effectiveness of different therapeutic approaches.</a:t>
                      </a:r>
                    </a:p>
                  </a:txBody>
                  <a:tcPr marL="68578" marR="68578" marT="34288" marB="34288"/>
                </a:tc>
                <a:extLst>
                  <a:ext uri="{0D108BD9-81ED-4DB2-BD59-A6C34878D82A}">
                    <a16:rowId xmlns:a16="http://schemas.microsoft.com/office/drawing/2014/main" val="10003"/>
                  </a:ext>
                </a:extLst>
              </a:tr>
              <a:tr h="1004941">
                <a:tc>
                  <a:txBody>
                    <a:bodyPr/>
                    <a:lstStyle/>
                    <a:p>
                      <a:r>
                        <a:rPr sz="1400" dirty="0">
                          <a:latin typeface="Times New Roman" panose="02020603050405020304" pitchFamily="18" charset="0"/>
                          <a:cs typeface="Times New Roman" panose="02020603050405020304" pitchFamily="18" charset="0"/>
                        </a:rPr>
                        <a:t>Peters et.al. (2017)</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Pediatric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 Early diagnosis and management</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Pediatric Blood &amp; Cancer</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Stresses early diagnosis to prevent irreversible complications.</a:t>
                      </a:r>
                    </a:p>
                  </a:txBody>
                  <a:tcPr marL="68578" marR="68578" marT="34288" marB="34288"/>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9195B-2475-8C15-A318-21870E585C67}"/>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B96CAF9-EFB2-2CEA-A62D-D5984BB10FE2}"/>
              </a:ext>
            </a:extLst>
          </p:cNvPr>
          <p:cNvGraphicFramePr>
            <a:graphicFrameLocks noGrp="1"/>
          </p:cNvGraphicFramePr>
          <p:nvPr>
            <p:custDataLst>
              <p:tags r:id="rId1"/>
            </p:custDataLst>
          </p:nvPr>
        </p:nvGraphicFramePr>
        <p:xfrm>
          <a:off x="482124" y="365250"/>
          <a:ext cx="8179752" cy="4560887"/>
        </p:xfrm>
        <a:graphic>
          <a:graphicData uri="http://schemas.openxmlformats.org/drawingml/2006/table">
            <a:tbl>
              <a:tblPr firstRow="1" bandRow="1">
                <a:tableStyleId>{5C22544A-7EE6-4342-B048-85BDC9FD1C3A}</a:tableStyleId>
              </a:tblPr>
              <a:tblGrid>
                <a:gridCol w="2044938">
                  <a:extLst>
                    <a:ext uri="{9D8B030D-6E8A-4147-A177-3AD203B41FA5}">
                      <a16:colId xmlns:a16="http://schemas.microsoft.com/office/drawing/2014/main" val="20000"/>
                    </a:ext>
                  </a:extLst>
                </a:gridCol>
                <a:gridCol w="2044938">
                  <a:extLst>
                    <a:ext uri="{9D8B030D-6E8A-4147-A177-3AD203B41FA5}">
                      <a16:colId xmlns:a16="http://schemas.microsoft.com/office/drawing/2014/main" val="20001"/>
                    </a:ext>
                  </a:extLst>
                </a:gridCol>
                <a:gridCol w="2044938">
                  <a:extLst>
                    <a:ext uri="{9D8B030D-6E8A-4147-A177-3AD203B41FA5}">
                      <a16:colId xmlns:a16="http://schemas.microsoft.com/office/drawing/2014/main" val="20002"/>
                    </a:ext>
                  </a:extLst>
                </a:gridCol>
                <a:gridCol w="2044938">
                  <a:extLst>
                    <a:ext uri="{9D8B030D-6E8A-4147-A177-3AD203B41FA5}">
                      <a16:colId xmlns:a16="http://schemas.microsoft.com/office/drawing/2014/main" val="20003"/>
                    </a:ext>
                  </a:extLst>
                </a:gridCol>
              </a:tblGrid>
              <a:tr h="309213">
                <a:tc>
                  <a:txBody>
                    <a:bodyPr/>
                    <a:lstStyle/>
                    <a:p>
                      <a:r>
                        <a:rPr sz="1400" dirty="0">
                          <a:latin typeface="Times New Roman" panose="02020603050405020304" pitchFamily="18" charset="0"/>
                          <a:cs typeface="Times New Roman" panose="02020603050405020304" pitchFamily="18" charset="0"/>
                        </a:rPr>
                        <a:t>AUTHOR AND YEAR</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TITLE</a:t>
                      </a:r>
                    </a:p>
                  </a:txBody>
                  <a:tcPr marL="68578" marR="68578" marT="34288" marB="34288"/>
                </a:tc>
                <a:tc>
                  <a:txBody>
                    <a:bodyPr/>
                    <a:lstStyle/>
                    <a:p>
                      <a:r>
                        <a:rPr sz="1400">
                          <a:latin typeface="Times New Roman" panose="02020603050405020304" pitchFamily="18" charset="0"/>
                          <a:cs typeface="Times New Roman" panose="02020603050405020304" pitchFamily="18" charset="0"/>
                        </a:rPr>
                        <a:t>JOURNAL</a:t>
                      </a:r>
                    </a:p>
                  </a:txBody>
                  <a:tcPr marL="68578" marR="68578" marT="34288" marB="34288"/>
                </a:tc>
                <a:tc>
                  <a:txBody>
                    <a:bodyPr/>
                    <a:lstStyle/>
                    <a:p>
                      <a:r>
                        <a:rPr sz="1400">
                          <a:latin typeface="Times New Roman" panose="02020603050405020304" pitchFamily="18" charset="0"/>
                          <a:cs typeface="Times New Roman" panose="02020603050405020304" pitchFamily="18" charset="0"/>
                        </a:rPr>
                        <a:t>RESEARCH FINDINGS</a:t>
                      </a:r>
                    </a:p>
                  </a:txBody>
                  <a:tcPr marL="68578" marR="68578" marT="34288" marB="34288"/>
                </a:tc>
                <a:extLst>
                  <a:ext uri="{0D108BD9-81ED-4DB2-BD59-A6C34878D82A}">
                    <a16:rowId xmlns:a16="http://schemas.microsoft.com/office/drawing/2014/main" val="10000"/>
                  </a:ext>
                </a:extLst>
              </a:tr>
              <a:tr h="1004941">
                <a:tc>
                  <a:txBody>
                    <a:bodyPr/>
                    <a:lstStyle/>
                    <a:p>
                      <a:r>
                        <a:rPr sz="1400" dirty="0">
                          <a:latin typeface="Times New Roman" panose="02020603050405020304" pitchFamily="18" charset="0"/>
                          <a:cs typeface="Times New Roman" panose="02020603050405020304" pitchFamily="18" charset="0"/>
                        </a:rPr>
                        <a:t>Shachar et.al. (2017)</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The role of autophagy in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a:t>
                      </a:r>
                    </a:p>
                  </a:txBody>
                  <a:tcPr marL="68578" marR="68578" marT="34288" marB="34288"/>
                </a:tc>
                <a:tc>
                  <a:txBody>
                    <a:bodyPr/>
                    <a:lstStyle/>
                    <a:p>
                      <a:r>
                        <a:rPr sz="1400">
                          <a:latin typeface="Times New Roman" panose="02020603050405020304" pitchFamily="18" charset="0"/>
                          <a:cs typeface="Times New Roman" panose="02020603050405020304" pitchFamily="18" charset="0"/>
                        </a:rPr>
                        <a:t>Autophagy Journal</a:t>
                      </a:r>
                    </a:p>
                  </a:txBody>
                  <a:tcPr marL="68578" marR="68578" marT="34288" marB="34288"/>
                </a:tc>
                <a:tc>
                  <a:txBody>
                    <a:bodyPr/>
                    <a:lstStyle/>
                    <a:p>
                      <a:r>
                        <a:rPr sz="1400">
                          <a:latin typeface="Times New Roman" panose="02020603050405020304" pitchFamily="18" charset="0"/>
                          <a:cs typeface="Times New Roman" panose="02020603050405020304" pitchFamily="18" charset="0"/>
                        </a:rPr>
                        <a:t>Links lysosomal dysfunction to cellular stress and neurodegeneration.</a:t>
                      </a:r>
                    </a:p>
                  </a:txBody>
                  <a:tcPr marL="68578" marR="68578" marT="34288" marB="34288"/>
                </a:tc>
                <a:extLst>
                  <a:ext uri="{0D108BD9-81ED-4DB2-BD59-A6C34878D82A}">
                    <a16:rowId xmlns:a16="http://schemas.microsoft.com/office/drawing/2014/main" val="10001"/>
                  </a:ext>
                </a:extLst>
              </a:tr>
              <a:tr h="1236851">
                <a:tc>
                  <a:txBody>
                    <a:bodyPr/>
                    <a:lstStyle/>
                    <a:p>
                      <a:r>
                        <a:rPr sz="1400" dirty="0">
                          <a:latin typeface="Times New Roman" panose="02020603050405020304" pitchFamily="18" charset="0"/>
                          <a:cs typeface="Times New Roman" panose="02020603050405020304" pitchFamily="18" charset="0"/>
                        </a:rPr>
                        <a:t>Stirnemann et.al. (2017)</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A review of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 epidemiology and global burden</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Orphanet Journal of Rare Diseases</a:t>
                      </a:r>
                    </a:p>
                  </a:txBody>
                  <a:tcPr marL="68578" marR="68578" marT="34288" marB="34288"/>
                </a:tc>
                <a:tc>
                  <a:txBody>
                    <a:bodyPr/>
                    <a:lstStyle/>
                    <a:p>
                      <a:r>
                        <a:rPr sz="1400">
                          <a:latin typeface="Times New Roman" panose="02020603050405020304" pitchFamily="18" charset="0"/>
                          <a:cs typeface="Times New Roman" panose="02020603050405020304" pitchFamily="18" charset="0"/>
                        </a:rPr>
                        <a:t>Explores demographic variations and socioeconomic impact.</a:t>
                      </a:r>
                    </a:p>
                  </a:txBody>
                  <a:tcPr marL="68578" marR="68578" marT="34288" marB="34288"/>
                </a:tc>
                <a:extLst>
                  <a:ext uri="{0D108BD9-81ED-4DB2-BD59-A6C34878D82A}">
                    <a16:rowId xmlns:a16="http://schemas.microsoft.com/office/drawing/2014/main" val="10002"/>
                  </a:ext>
                </a:extLst>
              </a:tr>
              <a:tr h="1004941">
                <a:tc>
                  <a:txBody>
                    <a:bodyPr/>
                    <a:lstStyle/>
                    <a:p>
                      <a:r>
                        <a:rPr sz="1400" dirty="0">
                          <a:latin typeface="Times New Roman" panose="02020603050405020304" pitchFamily="18" charset="0"/>
                          <a:cs typeface="Times New Roman" panose="02020603050405020304" pitchFamily="18" charset="0"/>
                        </a:rPr>
                        <a:t>Mistry et.al. (2010)</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Enzyme replacement and substrate reduction therapies in Gaucher disease</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The Lancet</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Evaluates effectiveness of different therapeutic approaches.</a:t>
                      </a:r>
                    </a:p>
                  </a:txBody>
                  <a:tcPr marL="68578" marR="68578" marT="34288" marB="34288"/>
                </a:tc>
                <a:extLst>
                  <a:ext uri="{0D108BD9-81ED-4DB2-BD59-A6C34878D82A}">
                    <a16:rowId xmlns:a16="http://schemas.microsoft.com/office/drawing/2014/main" val="10003"/>
                  </a:ext>
                </a:extLst>
              </a:tr>
              <a:tr h="1004941">
                <a:tc>
                  <a:txBody>
                    <a:bodyPr/>
                    <a:lstStyle/>
                    <a:p>
                      <a:r>
                        <a:rPr sz="1400" dirty="0">
                          <a:latin typeface="Times New Roman" panose="02020603050405020304" pitchFamily="18" charset="0"/>
                          <a:cs typeface="Times New Roman" panose="02020603050405020304" pitchFamily="18" charset="0"/>
                        </a:rPr>
                        <a:t>Peters et.al. (2017)</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Pediatric </a:t>
                      </a:r>
                      <a:r>
                        <a:rPr sz="1400" dirty="0" err="1">
                          <a:latin typeface="Times New Roman" panose="02020603050405020304" pitchFamily="18" charset="0"/>
                          <a:cs typeface="Times New Roman" panose="02020603050405020304" pitchFamily="18" charset="0"/>
                        </a:rPr>
                        <a:t>Gaucher</a:t>
                      </a:r>
                      <a:r>
                        <a:rPr sz="1400" dirty="0">
                          <a:latin typeface="Times New Roman" panose="02020603050405020304" pitchFamily="18" charset="0"/>
                          <a:cs typeface="Times New Roman" panose="02020603050405020304" pitchFamily="18" charset="0"/>
                        </a:rPr>
                        <a:t> disease: Early diagnosis and management</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Pediatric Blood &amp; Cancer</a:t>
                      </a:r>
                    </a:p>
                  </a:txBody>
                  <a:tcPr marL="68578" marR="68578" marT="34288" marB="34288"/>
                </a:tc>
                <a:tc>
                  <a:txBody>
                    <a:bodyPr/>
                    <a:lstStyle/>
                    <a:p>
                      <a:r>
                        <a:rPr sz="1400" dirty="0">
                          <a:latin typeface="Times New Roman" panose="02020603050405020304" pitchFamily="18" charset="0"/>
                          <a:cs typeface="Times New Roman" panose="02020603050405020304" pitchFamily="18" charset="0"/>
                        </a:rPr>
                        <a:t>Stresses early diagnosis to prevent irreversible complications.</a:t>
                      </a:r>
                    </a:p>
                  </a:txBody>
                  <a:tcPr marL="68578" marR="68578" marT="34288" marB="34288"/>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94712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0EE80-30A2-617A-E662-34429D74B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0D97D-38E3-0381-B29C-58ACD474A38C}"/>
              </a:ext>
            </a:extLst>
          </p:cNvPr>
          <p:cNvSpPr>
            <a:spLocks noGrp="1"/>
          </p:cNvSpPr>
          <p:nvPr>
            <p:ph type="title"/>
          </p:nvPr>
        </p:nvSpPr>
        <p:spPr>
          <a:xfrm>
            <a:off x="457200" y="2143125"/>
            <a:ext cx="8229600" cy="857250"/>
          </a:xfrm>
        </p:spPr>
        <p:txBody>
          <a:bodyPr/>
          <a:lstStyle/>
          <a:p>
            <a:r>
              <a:rPr lang="en-IN" alt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endParaRPr lang="en-US"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232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p>
        </p:txBody>
      </p:sp>
      <p:sp>
        <p:nvSpPr>
          <p:cNvPr id="4" name="Text Box 3"/>
          <p:cNvSpPr txBox="1"/>
          <p:nvPr/>
        </p:nvSpPr>
        <p:spPr>
          <a:xfrm>
            <a:off x="750298" y="1192712"/>
            <a:ext cx="7771130" cy="230832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objective of the project is </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To Identify deleterious SNP’s using sequence-based approach.</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To Identify of deleterious SNP’s using Structure based approach of gene.</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To understand the gene structure stability using molecular dynamic simulation.</a:t>
            </a: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9A8FB-1EC1-D85B-E7AB-988FD9F43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B4A61-5FEC-DA41-B2DC-04F8A1B62F07}"/>
              </a:ext>
            </a:extLst>
          </p:cNvPr>
          <p:cNvSpPr>
            <a:spLocks noGrp="1"/>
          </p:cNvSpPr>
          <p:nvPr>
            <p:ph type="title"/>
          </p:nvPr>
        </p:nvSpPr>
        <p:spPr>
          <a:xfrm>
            <a:off x="457200" y="2143125"/>
            <a:ext cx="8229600" cy="857250"/>
          </a:xfrm>
        </p:spPr>
        <p:txBody>
          <a:bodyPr/>
          <a:lstStyle/>
          <a:p>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Methodology</a:t>
            </a:r>
            <a:endParaRPr lang="en-US"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3842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52960"/>
            <a:ext cx="8229600" cy="857250"/>
          </a:xfrm>
        </p:spPr>
        <p:txBody>
          <a:bodyPr/>
          <a:lstStyle/>
          <a:p>
            <a:r>
              <a:rPr 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Methodology</a:t>
            </a:r>
          </a:p>
        </p:txBody>
      </p:sp>
      <p:sp>
        <p:nvSpPr>
          <p:cNvPr id="4" name="Rectangle: Rounded Corners 3"/>
          <p:cNvSpPr/>
          <p:nvPr/>
        </p:nvSpPr>
        <p:spPr>
          <a:xfrm>
            <a:off x="2297148" y="1063178"/>
            <a:ext cx="4685413" cy="490293"/>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1800" dirty="0">
              <a:latin typeface="Times New Roman" panose="02020603050405020304" pitchFamily="18" charset="0"/>
              <a:cs typeface="Times New Roman" panose="02020603050405020304" pitchFamily="18" charset="0"/>
            </a:endParaRPr>
          </a:p>
          <a:p>
            <a:pPr algn="ctr"/>
            <a:endParaRPr lang="en-IN" sz="1800" dirty="0">
              <a:latin typeface="Times New Roman" panose="02020603050405020304" pitchFamily="18" charset="0"/>
              <a:cs typeface="Times New Roman" panose="02020603050405020304" pitchFamily="18" charset="0"/>
            </a:endParaRPr>
          </a:p>
          <a:p>
            <a:pPr marL="342900" marR="34290" lvl="0" indent="-342900" algn="ctr">
              <a:lnSpc>
                <a:spcPts val="1600"/>
              </a:lnSpc>
              <a:spcBef>
                <a:spcPts val="100"/>
              </a:spcBef>
              <a:spcAft>
                <a:spcPts val="240"/>
              </a:spcAft>
              <a:buFont typeface="+mj-lt"/>
              <a:buAutoNum type="arabicPeriod"/>
              <a:tabLst>
                <a:tab pos="457200" algn="l"/>
              </a:tabLst>
            </a:pP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34290" lvl="0" algn="ctr">
              <a:lnSpc>
                <a:spcPts val="1600"/>
              </a:lnSpc>
              <a:spcBef>
                <a:spcPts val="100"/>
              </a:spcBef>
              <a:spcAft>
                <a:spcPts val="240"/>
              </a:spcAft>
              <a:tabLst>
                <a:tab pos="45720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Data Collection</a:t>
            </a:r>
            <a:endParaRPr lang="en-US" sz="2400" b="1" dirty="0">
              <a:latin typeface="Tahoma" panose="020B0604030504040204" pitchFamily="34" charset="0"/>
              <a:ea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pPr algn="ctr"/>
            <a:endParaRPr lang="en-IN" sz="1800" dirty="0">
              <a:latin typeface="Times New Roman" panose="02020603050405020304" pitchFamily="18" charset="0"/>
              <a:cs typeface="Times New Roman" panose="02020603050405020304" pitchFamily="18" charset="0"/>
            </a:endParaRPr>
          </a:p>
          <a:p>
            <a:pPr algn="ctr"/>
            <a:endParaRPr lang="en-IN" sz="1800" dirty="0">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2297150" y="1992881"/>
            <a:ext cx="4685413" cy="57602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R="34290" lvl="0" algn="just">
              <a:lnSpc>
                <a:spcPts val="1600"/>
              </a:lnSpc>
              <a:spcBef>
                <a:spcPts val="100"/>
              </a:spcBef>
              <a:spcAft>
                <a:spcPts val="240"/>
              </a:spcAft>
              <a:tabLst>
                <a:tab pos="457200" algn="l"/>
              </a:tabLst>
            </a:pPr>
            <a:endPar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34290" lvl="0" algn="ctr">
              <a:lnSpc>
                <a:spcPts val="1600"/>
              </a:lnSpc>
              <a:spcBef>
                <a:spcPts val="100"/>
              </a:spcBef>
              <a:spcAft>
                <a:spcPts val="240"/>
              </a:spcAft>
              <a:tabLst>
                <a:tab pos="45720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In Silico Analysis of SNPs</a:t>
            </a:r>
            <a:endParaRPr lang="en-US" sz="2400" dirty="0">
              <a:effectLst/>
              <a:latin typeface="Tahoma" panose="020B0604030504040204" pitchFamily="34" charset="0"/>
              <a:ea typeface="Times New Roman" panose="02020603050405020304" pitchFamily="18" charset="0"/>
              <a:cs typeface="Times New Roman" panose="02020603050405020304" pitchFamily="18" charset="0"/>
            </a:endParaRPr>
          </a:p>
          <a:p>
            <a:pPr algn="ctr"/>
            <a:endParaRPr lang="en-IN" sz="2400" dirty="0">
              <a:latin typeface="Times New Roman" panose="02020603050405020304" pitchFamily="18" charset="0"/>
              <a:cs typeface="Times New Roman" panose="02020603050405020304" pitchFamily="18" charset="0"/>
            </a:endParaRPr>
          </a:p>
        </p:txBody>
      </p:sp>
      <p:sp>
        <p:nvSpPr>
          <p:cNvPr id="6" name="Rectangle: Rounded Corners 5"/>
          <p:cNvSpPr/>
          <p:nvPr/>
        </p:nvSpPr>
        <p:spPr>
          <a:xfrm>
            <a:off x="2297150" y="2963934"/>
            <a:ext cx="4685413" cy="524267"/>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Structural Analysis</a:t>
            </a:r>
            <a:endParaRPr lang="en-US" sz="2400" dirty="0">
              <a:effectLst/>
              <a:latin typeface="Tahoma" panose="020B0604030504040204" pitchFamily="34" charset="0"/>
              <a:ea typeface="Times New Roman" panose="02020603050405020304" pitchFamily="18" charset="0"/>
              <a:cs typeface="Times New Roman" panose="02020603050405020304" pitchFamily="18" charset="0"/>
            </a:endParaRPr>
          </a:p>
          <a:p>
            <a:pPr algn="ctr"/>
            <a:endParaRPr lang="en-IN" sz="2400" dirty="0">
              <a:latin typeface="Times New Roman" panose="02020603050405020304" pitchFamily="18" charset="0"/>
              <a:cs typeface="Times New Roman" panose="02020603050405020304" pitchFamily="18" charset="0"/>
              <a:sym typeface="+mn-ea"/>
            </a:endParaRPr>
          </a:p>
        </p:txBody>
      </p:sp>
      <p:sp>
        <p:nvSpPr>
          <p:cNvPr id="3" name="Down Arrow 2"/>
          <p:cNvSpPr/>
          <p:nvPr/>
        </p:nvSpPr>
        <p:spPr>
          <a:xfrm>
            <a:off x="4431348" y="1591286"/>
            <a:ext cx="281303" cy="395029"/>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7" name="Down Arrow 6"/>
          <p:cNvSpPr/>
          <p:nvPr/>
        </p:nvSpPr>
        <p:spPr>
          <a:xfrm>
            <a:off x="4443076" y="2562414"/>
            <a:ext cx="285115" cy="394954"/>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Down Arrow 6">
            <a:extLst>
              <a:ext uri="{FF2B5EF4-FFF2-40B4-BE49-F238E27FC236}">
                <a16:creationId xmlns:a16="http://schemas.microsoft.com/office/drawing/2014/main" id="{6231D308-B009-B883-40BA-81FEBFE0A7B9}"/>
              </a:ext>
            </a:extLst>
          </p:cNvPr>
          <p:cNvSpPr/>
          <p:nvPr/>
        </p:nvSpPr>
        <p:spPr>
          <a:xfrm>
            <a:off x="4443323" y="3481710"/>
            <a:ext cx="285115" cy="394954"/>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9B03723C-CFF0-AC73-A720-C6E107D7BDF2}"/>
              </a:ext>
            </a:extLst>
          </p:cNvPr>
          <p:cNvSpPr/>
          <p:nvPr/>
        </p:nvSpPr>
        <p:spPr>
          <a:xfrm>
            <a:off x="2297150" y="3876664"/>
            <a:ext cx="4685414" cy="57602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R="34290" lvl="0" algn="ctr">
              <a:lnSpc>
                <a:spcPts val="1600"/>
              </a:lnSpc>
              <a:spcBef>
                <a:spcPts val="100"/>
              </a:spcBef>
              <a:spcAft>
                <a:spcPts val="240"/>
              </a:spcAft>
              <a:tabLst>
                <a:tab pos="457200" algn="l"/>
              </a:tabLst>
            </a:pPr>
            <a:endPar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34290" algn="ctr">
              <a:lnSpc>
                <a:spcPts val="1600"/>
              </a:lnSpc>
              <a:spcBef>
                <a:spcPts val="100"/>
              </a:spcBef>
              <a:spcAft>
                <a:spcPts val="240"/>
              </a:spcAft>
              <a:tabLst>
                <a:tab pos="457200" algn="l"/>
              </a:tabLst>
            </a:pPr>
            <a:endPar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34290" algn="ctr">
              <a:lnSpc>
                <a:spcPts val="1600"/>
              </a:lnSpc>
              <a:spcBef>
                <a:spcPts val="100"/>
              </a:spcBef>
              <a:spcAft>
                <a:spcPts val="240"/>
              </a:spcAft>
              <a:tabLst>
                <a:tab pos="457200" algn="l"/>
              </a:tabLst>
            </a:pPr>
            <a:endParaRPr lang="en-US" sz="2400" b="1" dirty="0">
              <a:latin typeface="Times New Roman" panose="02020603050405020304" pitchFamily="18" charset="0"/>
              <a:ea typeface="Times New Roman" panose="02020603050405020304" pitchFamily="18" charset="0"/>
              <a:cs typeface="Times New Roman" panose="02020603050405020304" pitchFamily="18" charset="0"/>
            </a:endParaRPr>
          </a:p>
          <a:p>
            <a:pPr marR="34290" algn="ctr">
              <a:lnSpc>
                <a:spcPts val="1600"/>
              </a:lnSpc>
              <a:spcBef>
                <a:spcPts val="100"/>
              </a:spcBef>
              <a:spcAft>
                <a:spcPts val="240"/>
              </a:spcAft>
              <a:tabLst>
                <a:tab pos="457200" algn="l"/>
              </a:tabLs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Molecular Dynamics Simulation</a:t>
            </a:r>
            <a:endParaRPr lang="en-US" sz="2400" dirty="0">
              <a:effectLst/>
              <a:latin typeface="Tahoma" panose="020B0604030504040204" pitchFamily="34" charset="0"/>
              <a:ea typeface="Times New Roman" panose="02020603050405020304" pitchFamily="18" charset="0"/>
              <a:cs typeface="Times New Roman" panose="02020603050405020304" pitchFamily="18" charset="0"/>
            </a:endParaRPr>
          </a:p>
          <a:p>
            <a:pPr marR="34290" lvl="0" algn="ctr">
              <a:lnSpc>
                <a:spcPts val="1600"/>
              </a:lnSpc>
              <a:spcBef>
                <a:spcPts val="100"/>
              </a:spcBef>
              <a:spcAft>
                <a:spcPts val="240"/>
              </a:spcAft>
              <a:tabLst>
                <a:tab pos="457200" algn="l"/>
              </a:tabLst>
            </a:pPr>
            <a:endParaRPr lang="en-US" sz="2400" dirty="0">
              <a:effectLst/>
              <a:latin typeface="Tahoma" panose="020B0604030504040204" pitchFamily="34" charset="0"/>
              <a:ea typeface="Times New Roman" panose="02020603050405020304" pitchFamily="18" charset="0"/>
              <a:cs typeface="Times New Roman" panose="02020603050405020304" pitchFamily="18" charset="0"/>
            </a:endParaRPr>
          </a:p>
          <a:p>
            <a:pPr algn="ct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696901-94C7-62E9-DC80-813381BC240F}"/>
              </a:ext>
            </a:extLst>
          </p:cNvPr>
          <p:cNvPicPr>
            <a:picLocks noChangeAspect="1"/>
          </p:cNvPicPr>
          <p:nvPr/>
        </p:nvPicPr>
        <p:blipFill>
          <a:blip r:embed="rId2"/>
          <a:stretch>
            <a:fillRect/>
          </a:stretch>
        </p:blipFill>
        <p:spPr>
          <a:xfrm>
            <a:off x="1212431" y="971633"/>
            <a:ext cx="6134573" cy="3447943"/>
          </a:xfrm>
          <a:prstGeom prst="rect">
            <a:avLst/>
          </a:prstGeom>
        </p:spPr>
      </p:pic>
      <p:sp>
        <p:nvSpPr>
          <p:cNvPr id="4" name="TextBox 3">
            <a:extLst>
              <a:ext uri="{FF2B5EF4-FFF2-40B4-BE49-F238E27FC236}">
                <a16:creationId xmlns:a16="http://schemas.microsoft.com/office/drawing/2014/main" id="{AED63EA2-7C66-1997-ABC9-07F87C176D42}"/>
              </a:ext>
            </a:extLst>
          </p:cNvPr>
          <p:cNvSpPr txBox="1"/>
          <p:nvPr/>
        </p:nvSpPr>
        <p:spPr>
          <a:xfrm>
            <a:off x="1061357" y="140636"/>
            <a:ext cx="6621235" cy="830997"/>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DATA COLLECTION</a:t>
            </a:r>
          </a:p>
          <a:p>
            <a:r>
              <a:rPr lang="en-US" sz="200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.Identification of SNP’s from NCBI website. </a:t>
            </a:r>
          </a:p>
        </p:txBody>
      </p:sp>
      <p:sp>
        <p:nvSpPr>
          <p:cNvPr id="2" name="TextBox 1">
            <a:extLst>
              <a:ext uri="{FF2B5EF4-FFF2-40B4-BE49-F238E27FC236}">
                <a16:creationId xmlns:a16="http://schemas.microsoft.com/office/drawing/2014/main" id="{5B70DEC9-E811-B2C8-182A-C907D63AE052}"/>
              </a:ext>
            </a:extLst>
          </p:cNvPr>
          <p:cNvSpPr txBox="1"/>
          <p:nvPr/>
        </p:nvSpPr>
        <p:spPr>
          <a:xfrm>
            <a:off x="1391478" y="4598341"/>
            <a:ext cx="5621572" cy="307777"/>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187955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5397-D045-E120-210E-C644FED5256A}"/>
              </a:ext>
            </a:extLst>
          </p:cNvPr>
          <p:cNvSpPr>
            <a:spLocks noGrp="1"/>
          </p:cNvSpPr>
          <p:nvPr>
            <p:ph type="title"/>
          </p:nvPr>
        </p:nvSpPr>
        <p:spPr>
          <a:xfrm>
            <a:off x="726622" y="181143"/>
            <a:ext cx="8229600" cy="857250"/>
          </a:xfrm>
        </p:spPr>
        <p:txBody>
          <a:bodyPr/>
          <a:lstStyle/>
          <a:p>
            <a:pPr algn="l"/>
            <a:r>
              <a:rPr lang="en-US" sz="2400" dirty="0">
                <a:latin typeface="Times New Roman" panose="02020603050405020304" pitchFamily="18" charset="0"/>
                <a:cs typeface="Times New Roman" panose="02020603050405020304" pitchFamily="18" charset="0"/>
              </a:rPr>
              <a:t>2. Identification of missense SNP’s from NCBI website</a:t>
            </a:r>
          </a:p>
        </p:txBody>
      </p:sp>
      <p:pic>
        <p:nvPicPr>
          <p:cNvPr id="3" name="Picture 2">
            <a:extLst>
              <a:ext uri="{FF2B5EF4-FFF2-40B4-BE49-F238E27FC236}">
                <a16:creationId xmlns:a16="http://schemas.microsoft.com/office/drawing/2014/main" id="{CD0893A9-970A-14F0-32FF-7AC46CCB55E6}"/>
              </a:ext>
            </a:extLst>
          </p:cNvPr>
          <p:cNvPicPr>
            <a:picLocks noChangeAspect="1"/>
          </p:cNvPicPr>
          <p:nvPr/>
        </p:nvPicPr>
        <p:blipFill>
          <a:blip r:embed="rId2"/>
          <a:srcRect r="7711" b="12650"/>
          <a:stretch/>
        </p:blipFill>
        <p:spPr>
          <a:xfrm>
            <a:off x="1000361" y="932257"/>
            <a:ext cx="7143278" cy="3803027"/>
          </a:xfrm>
          <a:prstGeom prst="rect">
            <a:avLst/>
          </a:prstGeom>
        </p:spPr>
      </p:pic>
    </p:spTree>
    <p:extLst>
      <p:ext uri="{BB962C8B-B14F-4D97-AF65-F5344CB8AC3E}">
        <p14:creationId xmlns:p14="http://schemas.microsoft.com/office/powerpoint/2010/main" val="4087447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F7D2E-E258-5273-EECC-D867C81CB5AB}"/>
              </a:ext>
            </a:extLst>
          </p:cNvPr>
          <p:cNvSpPr>
            <a:spLocks noGrp="1"/>
          </p:cNvSpPr>
          <p:nvPr>
            <p:ph type="title"/>
          </p:nvPr>
        </p:nvSpPr>
        <p:spPr>
          <a:xfrm>
            <a:off x="498020" y="75689"/>
            <a:ext cx="8229600" cy="857250"/>
          </a:xfrm>
        </p:spPr>
        <p:txBody>
          <a:bodyPr/>
          <a:lstStyle/>
          <a:p>
            <a:pPr algn="l"/>
            <a:r>
              <a:rPr lang="en-US" sz="2400" dirty="0">
                <a:latin typeface="Times New Roman" panose="02020603050405020304" pitchFamily="18" charset="0"/>
                <a:cs typeface="Times New Roman" panose="02020603050405020304" pitchFamily="18" charset="0"/>
              </a:rPr>
              <a:t>3.Collection of information of SNP’s </a:t>
            </a:r>
          </a:p>
        </p:txBody>
      </p:sp>
      <p:pic>
        <p:nvPicPr>
          <p:cNvPr id="4" name="Picture 3">
            <a:extLst>
              <a:ext uri="{FF2B5EF4-FFF2-40B4-BE49-F238E27FC236}">
                <a16:creationId xmlns:a16="http://schemas.microsoft.com/office/drawing/2014/main" id="{13CD1263-49BB-7EBA-08B1-202F97539275}"/>
              </a:ext>
            </a:extLst>
          </p:cNvPr>
          <p:cNvPicPr>
            <a:picLocks noChangeAspect="1"/>
          </p:cNvPicPr>
          <p:nvPr/>
        </p:nvPicPr>
        <p:blipFill>
          <a:blip r:embed="rId2"/>
          <a:stretch>
            <a:fillRect/>
          </a:stretch>
        </p:blipFill>
        <p:spPr>
          <a:xfrm>
            <a:off x="644977" y="857250"/>
            <a:ext cx="7935687" cy="1973885"/>
          </a:xfrm>
          <a:prstGeom prst="rect">
            <a:avLst/>
          </a:prstGeom>
        </p:spPr>
      </p:pic>
      <p:pic>
        <p:nvPicPr>
          <p:cNvPr id="6" name="Picture 5">
            <a:extLst>
              <a:ext uri="{FF2B5EF4-FFF2-40B4-BE49-F238E27FC236}">
                <a16:creationId xmlns:a16="http://schemas.microsoft.com/office/drawing/2014/main" id="{580169C7-B721-EDB9-FAA7-0A4DC5158C84}"/>
              </a:ext>
            </a:extLst>
          </p:cNvPr>
          <p:cNvPicPr>
            <a:picLocks noChangeAspect="1"/>
          </p:cNvPicPr>
          <p:nvPr/>
        </p:nvPicPr>
        <p:blipFill>
          <a:blip r:embed="rId3"/>
          <a:srcRect t="21828" b="11457"/>
          <a:stretch/>
        </p:blipFill>
        <p:spPr>
          <a:xfrm>
            <a:off x="644977" y="3184071"/>
            <a:ext cx="8041823" cy="1804308"/>
          </a:xfrm>
          <a:prstGeom prst="rect">
            <a:avLst/>
          </a:prstGeom>
        </p:spPr>
      </p:pic>
    </p:spTree>
    <p:extLst>
      <p:ext uri="{BB962C8B-B14F-4D97-AF65-F5344CB8AC3E}">
        <p14:creationId xmlns:p14="http://schemas.microsoft.com/office/powerpoint/2010/main" val="30857930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6A430D-4979-1A67-69FF-4E5E0136A58D}"/>
              </a:ext>
            </a:extLst>
          </p:cNvPr>
          <p:cNvPicPr>
            <a:picLocks noChangeAspect="1"/>
          </p:cNvPicPr>
          <p:nvPr/>
        </p:nvPicPr>
        <p:blipFill>
          <a:blip r:embed="rId2"/>
          <a:stretch>
            <a:fillRect/>
          </a:stretch>
        </p:blipFill>
        <p:spPr>
          <a:xfrm>
            <a:off x="146957" y="701951"/>
            <a:ext cx="8850085" cy="4057650"/>
          </a:xfrm>
          <a:prstGeom prst="rect">
            <a:avLst/>
          </a:prstGeom>
        </p:spPr>
      </p:pic>
      <p:sp>
        <p:nvSpPr>
          <p:cNvPr id="2" name="TextBox 1">
            <a:extLst>
              <a:ext uri="{FF2B5EF4-FFF2-40B4-BE49-F238E27FC236}">
                <a16:creationId xmlns:a16="http://schemas.microsoft.com/office/drawing/2014/main" id="{BED839AE-06E8-2C5E-C50C-BD103B88F359}"/>
              </a:ext>
            </a:extLst>
          </p:cNvPr>
          <p:cNvSpPr txBox="1"/>
          <p:nvPr/>
        </p:nvSpPr>
        <p:spPr>
          <a:xfrm>
            <a:off x="287358" y="240286"/>
            <a:ext cx="7563292"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4. Saving the data in an excel sheet</a:t>
            </a:r>
          </a:p>
        </p:txBody>
      </p:sp>
    </p:spTree>
    <p:extLst>
      <p:ext uri="{BB962C8B-B14F-4D97-AF65-F5344CB8AC3E}">
        <p14:creationId xmlns:p14="http://schemas.microsoft.com/office/powerpoint/2010/main" val="4077085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A38B3-52F6-3697-C808-05F4739EB1E4}"/>
              </a:ext>
            </a:extLst>
          </p:cNvPr>
          <p:cNvSpPr>
            <a:spLocks noGrp="1"/>
          </p:cNvSpPr>
          <p:nvPr>
            <p:ph type="title"/>
          </p:nvPr>
        </p:nvSpPr>
        <p:spPr>
          <a:xfrm>
            <a:off x="457200" y="263105"/>
            <a:ext cx="8229600" cy="857250"/>
          </a:xfrm>
        </p:spPr>
        <p:txBody>
          <a:bodyPr/>
          <a:lstStyle/>
          <a:p>
            <a:br>
              <a:rPr lang="en-IN" sz="3200" dirty="0">
                <a:latin typeface="Times New Roman" panose="02020603050405020304" pitchFamily="18" charset="0"/>
                <a:cs typeface="Times New Roman" panose="02020603050405020304" pitchFamily="18" charset="0"/>
                <a:sym typeface="+mn-ea"/>
              </a:rPr>
            </a:br>
            <a:r>
              <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rPr>
              <a:t>In Silico Analysis of SNPs</a:t>
            </a:r>
            <a:br>
              <a:rPr lang="en-US" sz="2400" dirty="0">
                <a:effectLst/>
                <a:latin typeface="Tahoma" panose="020B0604030504040204" pitchFamily="34" charset="0"/>
                <a:ea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sym typeface="+mn-ea"/>
              </a:rPr>
            </a:br>
            <a:r>
              <a:rPr lang="en-IN" sz="2400" dirty="0">
                <a:latin typeface="Times New Roman" panose="02020603050405020304" pitchFamily="18" charset="0"/>
                <a:cs typeface="Times New Roman" panose="02020603050405020304" pitchFamily="18" charset="0"/>
                <a:sym typeface="+mn-ea"/>
              </a:rPr>
              <a:t>1. SNP &amp; GO</a:t>
            </a:r>
            <a:endParaRPr lang="en-US" sz="2400" dirty="0"/>
          </a:p>
        </p:txBody>
      </p:sp>
      <p:pic>
        <p:nvPicPr>
          <p:cNvPr id="4" name="Picture 3">
            <a:extLst>
              <a:ext uri="{FF2B5EF4-FFF2-40B4-BE49-F238E27FC236}">
                <a16:creationId xmlns:a16="http://schemas.microsoft.com/office/drawing/2014/main" id="{0862CA18-1446-F406-FD32-07BC78A569C0}"/>
              </a:ext>
            </a:extLst>
          </p:cNvPr>
          <p:cNvPicPr>
            <a:picLocks noChangeAspect="1"/>
          </p:cNvPicPr>
          <p:nvPr/>
        </p:nvPicPr>
        <p:blipFill>
          <a:blip r:embed="rId2"/>
          <a:stretch>
            <a:fillRect/>
          </a:stretch>
        </p:blipFill>
        <p:spPr>
          <a:xfrm>
            <a:off x="661306" y="1648971"/>
            <a:ext cx="7560129" cy="3184072"/>
          </a:xfrm>
          <a:prstGeom prst="rect">
            <a:avLst/>
          </a:prstGeom>
        </p:spPr>
      </p:pic>
    </p:spTree>
    <p:extLst>
      <p:ext uri="{BB962C8B-B14F-4D97-AF65-F5344CB8AC3E}">
        <p14:creationId xmlns:p14="http://schemas.microsoft.com/office/powerpoint/2010/main" val="3132559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AB4AD-3C3D-3E97-6174-FD9B4406D1BC}"/>
              </a:ext>
            </a:extLst>
          </p:cNvPr>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SNP &amp; GO Result Analysis</a:t>
            </a:r>
          </a:p>
        </p:txBody>
      </p:sp>
      <p:pic>
        <p:nvPicPr>
          <p:cNvPr id="4" name="Picture 3">
            <a:extLst>
              <a:ext uri="{FF2B5EF4-FFF2-40B4-BE49-F238E27FC236}">
                <a16:creationId xmlns:a16="http://schemas.microsoft.com/office/drawing/2014/main" id="{49E573A3-0F82-FAD7-56CF-F64CC911E665}"/>
              </a:ext>
            </a:extLst>
          </p:cNvPr>
          <p:cNvPicPr>
            <a:picLocks noChangeAspect="1"/>
          </p:cNvPicPr>
          <p:nvPr/>
        </p:nvPicPr>
        <p:blipFill>
          <a:blip r:embed="rId2"/>
          <a:stretch>
            <a:fillRect/>
          </a:stretch>
        </p:blipFill>
        <p:spPr>
          <a:xfrm>
            <a:off x="457200" y="923898"/>
            <a:ext cx="6417313" cy="4013623"/>
          </a:xfrm>
          <a:prstGeom prst="rect">
            <a:avLst/>
          </a:prstGeom>
        </p:spPr>
      </p:pic>
    </p:spTree>
    <p:extLst>
      <p:ext uri="{BB962C8B-B14F-4D97-AF65-F5344CB8AC3E}">
        <p14:creationId xmlns:p14="http://schemas.microsoft.com/office/powerpoint/2010/main" val="1937906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6932-F402-4E6A-BB5C-1FBA83358BE5}"/>
              </a:ext>
            </a:extLst>
          </p:cNvPr>
          <p:cNvSpPr>
            <a:spLocks noGrp="1"/>
          </p:cNvSpPr>
          <p:nvPr>
            <p:ph type="title"/>
          </p:nvPr>
        </p:nvSpPr>
        <p:spPr>
          <a:xfrm>
            <a:off x="236764" y="222307"/>
            <a:ext cx="8229600" cy="857250"/>
          </a:xfrm>
        </p:spPr>
        <p:txBody>
          <a:bodyPr/>
          <a:lstStyle/>
          <a:p>
            <a:r>
              <a:rPr lang="en-US" sz="2800" dirty="0">
                <a:latin typeface="Times New Roman" panose="02020603050405020304" pitchFamily="18" charset="0"/>
                <a:cs typeface="Times New Roman" panose="02020603050405020304" pitchFamily="18" charset="0"/>
              </a:rPr>
              <a:t>2. PolyPhen-2 Prediction</a:t>
            </a:r>
          </a:p>
        </p:txBody>
      </p:sp>
      <p:pic>
        <p:nvPicPr>
          <p:cNvPr id="4" name="Picture 3">
            <a:extLst>
              <a:ext uri="{FF2B5EF4-FFF2-40B4-BE49-F238E27FC236}">
                <a16:creationId xmlns:a16="http://schemas.microsoft.com/office/drawing/2014/main" id="{BF6E1144-6B61-7BEE-C218-057DF41AD687}"/>
              </a:ext>
            </a:extLst>
          </p:cNvPr>
          <p:cNvPicPr>
            <a:picLocks noChangeAspect="1"/>
          </p:cNvPicPr>
          <p:nvPr/>
        </p:nvPicPr>
        <p:blipFill>
          <a:blip r:embed="rId2"/>
          <a:srcRect l="1874" r="5962"/>
          <a:stretch/>
        </p:blipFill>
        <p:spPr>
          <a:xfrm>
            <a:off x="106136" y="1271418"/>
            <a:ext cx="4767941" cy="3162145"/>
          </a:xfrm>
          <a:prstGeom prst="rect">
            <a:avLst/>
          </a:prstGeom>
        </p:spPr>
      </p:pic>
      <p:pic>
        <p:nvPicPr>
          <p:cNvPr id="6" name="Picture 5">
            <a:extLst>
              <a:ext uri="{FF2B5EF4-FFF2-40B4-BE49-F238E27FC236}">
                <a16:creationId xmlns:a16="http://schemas.microsoft.com/office/drawing/2014/main" id="{4F1CFA3A-E28E-5330-0B1E-1498AC64E56F}"/>
              </a:ext>
            </a:extLst>
          </p:cNvPr>
          <p:cNvPicPr>
            <a:picLocks noChangeAspect="1"/>
          </p:cNvPicPr>
          <p:nvPr/>
        </p:nvPicPr>
        <p:blipFill>
          <a:blip r:embed="rId3"/>
          <a:srcRect l="7665" r="1988" b="7648"/>
          <a:stretch/>
        </p:blipFill>
        <p:spPr>
          <a:xfrm>
            <a:off x="5192487" y="1271418"/>
            <a:ext cx="3339192" cy="3370334"/>
          </a:xfrm>
          <a:prstGeom prst="rect">
            <a:avLst/>
          </a:prstGeom>
        </p:spPr>
      </p:pic>
    </p:spTree>
    <p:extLst>
      <p:ext uri="{BB962C8B-B14F-4D97-AF65-F5344CB8AC3E}">
        <p14:creationId xmlns:p14="http://schemas.microsoft.com/office/powerpoint/2010/main" val="3810277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4AFBC-196F-111E-D6B6-B8E08CFA50AC}"/>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PolyPhen-2 </a:t>
            </a:r>
            <a:r>
              <a:rPr lang="en-US" dirty="0">
                <a:latin typeface="Times New Roman" panose="02020603050405020304" pitchFamily="18" charset="0"/>
                <a:cs typeface="Times New Roman" panose="02020603050405020304" pitchFamily="18" charset="0"/>
              </a:rPr>
              <a:t>Result</a:t>
            </a:r>
          </a:p>
        </p:txBody>
      </p:sp>
      <p:pic>
        <p:nvPicPr>
          <p:cNvPr id="4" name="Picture 3">
            <a:extLst>
              <a:ext uri="{FF2B5EF4-FFF2-40B4-BE49-F238E27FC236}">
                <a16:creationId xmlns:a16="http://schemas.microsoft.com/office/drawing/2014/main" id="{ED91F25A-A8FE-6408-1198-A38F9C204CB8}"/>
              </a:ext>
            </a:extLst>
          </p:cNvPr>
          <p:cNvPicPr>
            <a:picLocks noChangeAspect="1"/>
          </p:cNvPicPr>
          <p:nvPr/>
        </p:nvPicPr>
        <p:blipFill>
          <a:blip r:embed="rId2"/>
          <a:stretch>
            <a:fillRect/>
          </a:stretch>
        </p:blipFill>
        <p:spPr>
          <a:xfrm>
            <a:off x="0" y="1392128"/>
            <a:ext cx="9144000" cy="3192000"/>
          </a:xfrm>
          <a:prstGeom prst="rect">
            <a:avLst/>
          </a:prstGeom>
        </p:spPr>
      </p:pic>
    </p:spTree>
    <p:extLst>
      <p:ext uri="{BB962C8B-B14F-4D97-AF65-F5344CB8AC3E}">
        <p14:creationId xmlns:p14="http://schemas.microsoft.com/office/powerpoint/2010/main" val="1396045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542AB-BF69-9E15-AFB5-1E7238554BCE}"/>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3. FATHMM</a:t>
            </a:r>
          </a:p>
        </p:txBody>
      </p:sp>
      <p:pic>
        <p:nvPicPr>
          <p:cNvPr id="4" name="Picture 3">
            <a:extLst>
              <a:ext uri="{FF2B5EF4-FFF2-40B4-BE49-F238E27FC236}">
                <a16:creationId xmlns:a16="http://schemas.microsoft.com/office/drawing/2014/main" id="{90DA74EE-CF22-CBF9-9C8F-4513D749F332}"/>
              </a:ext>
            </a:extLst>
          </p:cNvPr>
          <p:cNvPicPr>
            <a:picLocks noChangeAspect="1"/>
          </p:cNvPicPr>
          <p:nvPr/>
        </p:nvPicPr>
        <p:blipFill>
          <a:blip r:embed="rId2"/>
          <a:stretch>
            <a:fillRect/>
          </a:stretch>
        </p:blipFill>
        <p:spPr>
          <a:xfrm>
            <a:off x="4408714" y="1114425"/>
            <a:ext cx="4601128" cy="2628900"/>
          </a:xfrm>
          <a:prstGeom prst="rect">
            <a:avLst/>
          </a:prstGeom>
        </p:spPr>
      </p:pic>
      <p:pic>
        <p:nvPicPr>
          <p:cNvPr id="6" name="Picture 5">
            <a:extLst>
              <a:ext uri="{FF2B5EF4-FFF2-40B4-BE49-F238E27FC236}">
                <a16:creationId xmlns:a16="http://schemas.microsoft.com/office/drawing/2014/main" id="{CE1FB0FD-343E-FF2F-46A3-AE7BD87791E7}"/>
              </a:ext>
            </a:extLst>
          </p:cNvPr>
          <p:cNvPicPr>
            <a:picLocks noChangeAspect="1"/>
          </p:cNvPicPr>
          <p:nvPr/>
        </p:nvPicPr>
        <p:blipFill>
          <a:blip r:embed="rId3"/>
          <a:stretch>
            <a:fillRect/>
          </a:stretch>
        </p:blipFill>
        <p:spPr>
          <a:xfrm>
            <a:off x="134158" y="1171575"/>
            <a:ext cx="4166460" cy="2571750"/>
          </a:xfrm>
          <a:prstGeom prst="rect">
            <a:avLst/>
          </a:prstGeom>
        </p:spPr>
      </p:pic>
    </p:spTree>
    <p:extLst>
      <p:ext uri="{BB962C8B-B14F-4D97-AF65-F5344CB8AC3E}">
        <p14:creationId xmlns:p14="http://schemas.microsoft.com/office/powerpoint/2010/main" val="39993346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1BD97-42AC-B360-7B4E-3131D5CAB6EC}"/>
              </a:ext>
            </a:extLst>
          </p:cNvPr>
          <p:cNvSpPr>
            <a:spLocks noGrp="1"/>
          </p:cNvSpPr>
          <p:nvPr>
            <p:ph type="title"/>
          </p:nvPr>
        </p:nvSpPr>
        <p:spPr>
          <a:xfrm>
            <a:off x="383722" y="-36804"/>
            <a:ext cx="8229600" cy="857250"/>
          </a:xfrm>
        </p:spPr>
        <p:txBody>
          <a:bodyPr/>
          <a:lstStyle/>
          <a:p>
            <a:r>
              <a:rPr lang="en-US" sz="3200" dirty="0">
                <a:latin typeface="Times New Roman" panose="02020603050405020304" pitchFamily="18" charset="0"/>
                <a:cs typeface="Times New Roman" panose="02020603050405020304" pitchFamily="18" charset="0"/>
              </a:rPr>
              <a:t>FATHMM Result</a:t>
            </a:r>
            <a:endParaRPr lang="en-US" dirty="0"/>
          </a:p>
        </p:txBody>
      </p:sp>
      <p:pic>
        <p:nvPicPr>
          <p:cNvPr id="8" name="Picture 7">
            <a:extLst>
              <a:ext uri="{FF2B5EF4-FFF2-40B4-BE49-F238E27FC236}">
                <a16:creationId xmlns:a16="http://schemas.microsoft.com/office/drawing/2014/main" id="{2D705139-C193-2438-F532-D5FA6AB501CC}"/>
              </a:ext>
            </a:extLst>
          </p:cNvPr>
          <p:cNvPicPr>
            <a:picLocks noChangeAspect="1"/>
          </p:cNvPicPr>
          <p:nvPr/>
        </p:nvPicPr>
        <p:blipFill>
          <a:blip r:embed="rId2"/>
          <a:stretch>
            <a:fillRect/>
          </a:stretch>
        </p:blipFill>
        <p:spPr>
          <a:xfrm>
            <a:off x="881742" y="746967"/>
            <a:ext cx="6098722" cy="4117075"/>
          </a:xfrm>
          <a:prstGeom prst="rect">
            <a:avLst/>
          </a:prstGeom>
        </p:spPr>
      </p:pic>
    </p:spTree>
    <p:extLst>
      <p:ext uri="{BB962C8B-B14F-4D97-AF65-F5344CB8AC3E}">
        <p14:creationId xmlns:p14="http://schemas.microsoft.com/office/powerpoint/2010/main" val="33088382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0D6F3-775E-0AEB-1567-7DCD850E2A7E}"/>
              </a:ext>
            </a:extLst>
          </p:cNvPr>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4. Meta-SNP , SNAP, SIFT, PANTER, PhD-SNP</a:t>
            </a:r>
          </a:p>
        </p:txBody>
      </p:sp>
      <p:pic>
        <p:nvPicPr>
          <p:cNvPr id="6" name="Picture 5">
            <a:extLst>
              <a:ext uri="{FF2B5EF4-FFF2-40B4-BE49-F238E27FC236}">
                <a16:creationId xmlns:a16="http://schemas.microsoft.com/office/drawing/2014/main" id="{FD45BA59-CF03-383B-BE1F-793BDD01A62C}"/>
              </a:ext>
            </a:extLst>
          </p:cNvPr>
          <p:cNvPicPr>
            <a:picLocks noChangeAspect="1"/>
          </p:cNvPicPr>
          <p:nvPr/>
        </p:nvPicPr>
        <p:blipFill>
          <a:blip r:embed="rId2"/>
          <a:stretch>
            <a:fillRect/>
          </a:stretch>
        </p:blipFill>
        <p:spPr>
          <a:xfrm>
            <a:off x="1477736" y="1063230"/>
            <a:ext cx="5559878" cy="4014956"/>
          </a:xfrm>
          <a:prstGeom prst="rect">
            <a:avLst/>
          </a:prstGeom>
        </p:spPr>
      </p:pic>
    </p:spTree>
    <p:extLst>
      <p:ext uri="{BB962C8B-B14F-4D97-AF65-F5344CB8AC3E}">
        <p14:creationId xmlns:p14="http://schemas.microsoft.com/office/powerpoint/2010/main" val="1814907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1FF3B-183C-211E-CCD7-EFE215AEBE8E}"/>
              </a:ext>
            </a:extLst>
          </p:cNvPr>
          <p:cNvSpPr>
            <a:spLocks noGrp="1"/>
          </p:cNvSpPr>
          <p:nvPr>
            <p:ph type="title"/>
          </p:nvPr>
        </p:nvSpPr>
        <p:spPr>
          <a:xfrm>
            <a:off x="457200" y="75350"/>
            <a:ext cx="8229600" cy="857250"/>
          </a:xfrm>
        </p:spPr>
        <p:txBody>
          <a:bodyPr/>
          <a:lstStyle/>
          <a:p>
            <a:r>
              <a:rPr lang="en-US" sz="2400" dirty="0">
                <a:latin typeface="Times New Roman" panose="02020603050405020304" pitchFamily="18" charset="0"/>
                <a:cs typeface="Times New Roman" panose="02020603050405020304" pitchFamily="18" charset="0"/>
              </a:rPr>
              <a:t>Meta-SNP , SNAP, SIFT, PANTER, PhD-SNP Result</a:t>
            </a:r>
            <a:endParaRPr lang="en-US" sz="2400" dirty="0"/>
          </a:p>
        </p:txBody>
      </p:sp>
      <p:pic>
        <p:nvPicPr>
          <p:cNvPr id="4" name="Picture 3">
            <a:extLst>
              <a:ext uri="{FF2B5EF4-FFF2-40B4-BE49-F238E27FC236}">
                <a16:creationId xmlns:a16="http://schemas.microsoft.com/office/drawing/2014/main" id="{7B0E8687-67C2-A9A9-7C08-6228585292B4}"/>
              </a:ext>
            </a:extLst>
          </p:cNvPr>
          <p:cNvPicPr>
            <a:picLocks noChangeAspect="1"/>
          </p:cNvPicPr>
          <p:nvPr/>
        </p:nvPicPr>
        <p:blipFill>
          <a:blip r:embed="rId2"/>
          <a:stretch>
            <a:fillRect/>
          </a:stretch>
        </p:blipFill>
        <p:spPr>
          <a:xfrm>
            <a:off x="1445078" y="790064"/>
            <a:ext cx="5723164" cy="4147457"/>
          </a:xfrm>
          <a:prstGeom prst="rect">
            <a:avLst/>
          </a:prstGeom>
        </p:spPr>
      </p:pic>
    </p:spTree>
    <p:extLst>
      <p:ext uri="{BB962C8B-B14F-4D97-AF65-F5344CB8AC3E}">
        <p14:creationId xmlns:p14="http://schemas.microsoft.com/office/powerpoint/2010/main" val="10409385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958D6-6B51-D7FF-DCB6-71A204D51F48}"/>
              </a:ext>
            </a:extLst>
          </p:cNvPr>
          <p:cNvSpPr>
            <a:spLocks noGrp="1"/>
          </p:cNvSpPr>
          <p:nvPr>
            <p:ph type="title"/>
          </p:nvPr>
        </p:nvSpPr>
        <p:spPr>
          <a:xfrm>
            <a:off x="457200" y="205979"/>
            <a:ext cx="8229600" cy="857250"/>
          </a:xfrm>
        </p:spPr>
        <p:txBody>
          <a:bodyPr/>
          <a:lstStyle/>
          <a:p>
            <a:r>
              <a:rPr lang="en-US" dirty="0">
                <a:latin typeface="Times New Roman" panose="02020603050405020304" pitchFamily="18" charset="0"/>
                <a:cs typeface="Times New Roman" panose="02020603050405020304" pitchFamily="18" charset="0"/>
              </a:rPr>
              <a:t>Sequence Based analysis result sheet</a:t>
            </a:r>
          </a:p>
        </p:txBody>
      </p:sp>
      <p:pic>
        <p:nvPicPr>
          <p:cNvPr id="5" name="Picture 4">
            <a:extLst>
              <a:ext uri="{FF2B5EF4-FFF2-40B4-BE49-F238E27FC236}">
                <a16:creationId xmlns:a16="http://schemas.microsoft.com/office/drawing/2014/main" id="{D0EC9410-57FE-79F5-E44F-393451B59AF7}"/>
              </a:ext>
            </a:extLst>
          </p:cNvPr>
          <p:cNvPicPr>
            <a:picLocks noChangeAspect="1"/>
          </p:cNvPicPr>
          <p:nvPr/>
        </p:nvPicPr>
        <p:blipFill>
          <a:blip r:embed="rId2"/>
          <a:stretch>
            <a:fillRect/>
          </a:stretch>
        </p:blipFill>
        <p:spPr>
          <a:xfrm>
            <a:off x="262393" y="1183776"/>
            <a:ext cx="8754386" cy="3753745"/>
          </a:xfrm>
          <a:prstGeom prst="rect">
            <a:avLst/>
          </a:prstGeom>
        </p:spPr>
      </p:pic>
    </p:spTree>
    <p:extLst>
      <p:ext uri="{BB962C8B-B14F-4D97-AF65-F5344CB8AC3E}">
        <p14:creationId xmlns:p14="http://schemas.microsoft.com/office/powerpoint/2010/main" val="22874491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B6368-3479-0144-9AFC-48403357A33A}"/>
              </a:ext>
            </a:extLst>
          </p:cNvPr>
          <p:cNvSpPr>
            <a:spLocks noGrp="1"/>
          </p:cNvSpPr>
          <p:nvPr>
            <p:ph type="title"/>
          </p:nvPr>
        </p:nvSpPr>
        <p:spPr/>
        <p:txBody>
          <a:bodyPr/>
          <a:lstStyle/>
          <a:p>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Structural Analysis</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57400AE-3C58-CF90-1272-52F9F30F0A50}"/>
              </a:ext>
            </a:extLst>
          </p:cNvPr>
          <p:cNvPicPr>
            <a:picLocks noChangeAspect="1"/>
          </p:cNvPicPr>
          <p:nvPr/>
        </p:nvPicPr>
        <p:blipFill>
          <a:blip r:embed="rId2"/>
          <a:stretch>
            <a:fillRect/>
          </a:stretch>
        </p:blipFill>
        <p:spPr>
          <a:xfrm>
            <a:off x="195943" y="2163255"/>
            <a:ext cx="4043831" cy="2049518"/>
          </a:xfrm>
          <a:prstGeom prst="rect">
            <a:avLst/>
          </a:prstGeom>
        </p:spPr>
      </p:pic>
      <p:pic>
        <p:nvPicPr>
          <p:cNvPr id="6" name="Picture 5">
            <a:extLst>
              <a:ext uri="{FF2B5EF4-FFF2-40B4-BE49-F238E27FC236}">
                <a16:creationId xmlns:a16="http://schemas.microsoft.com/office/drawing/2014/main" id="{F5E1609F-DC06-77CA-6A86-0C4985345458}"/>
              </a:ext>
            </a:extLst>
          </p:cNvPr>
          <p:cNvPicPr>
            <a:picLocks noChangeAspect="1"/>
          </p:cNvPicPr>
          <p:nvPr/>
        </p:nvPicPr>
        <p:blipFill>
          <a:blip r:embed="rId3"/>
          <a:srcRect r="17371"/>
          <a:stretch/>
        </p:blipFill>
        <p:spPr>
          <a:xfrm>
            <a:off x="3853543" y="2163255"/>
            <a:ext cx="5200650" cy="2049519"/>
          </a:xfrm>
          <a:prstGeom prst="rect">
            <a:avLst/>
          </a:prstGeom>
        </p:spPr>
      </p:pic>
      <p:sp>
        <p:nvSpPr>
          <p:cNvPr id="7" name="TextBox 6">
            <a:extLst>
              <a:ext uri="{FF2B5EF4-FFF2-40B4-BE49-F238E27FC236}">
                <a16:creationId xmlns:a16="http://schemas.microsoft.com/office/drawing/2014/main" id="{07544D3E-B8E6-5210-EC86-C69564D42124}"/>
              </a:ext>
            </a:extLst>
          </p:cNvPr>
          <p:cNvSpPr txBox="1"/>
          <p:nvPr/>
        </p:nvSpPr>
        <p:spPr>
          <a:xfrm>
            <a:off x="587829" y="1208314"/>
            <a:ext cx="6147707" cy="461665"/>
          </a:xfrm>
          <a:prstGeom prst="rect">
            <a:avLst/>
          </a:prstGeom>
          <a:noFill/>
        </p:spPr>
        <p:txBody>
          <a:bodyPr wrap="square" rtlCol="0">
            <a:spAutoFit/>
          </a:bodyPr>
          <a:lstStyle/>
          <a:p>
            <a:pPr marL="342900" indent="-342900">
              <a:buFont typeface="+mj-lt"/>
              <a:buAutoNum type="alphaLcParenR"/>
            </a:pPr>
            <a:r>
              <a:rPr lang="en-US" sz="2400" dirty="0">
                <a:latin typeface="Times New Roman" panose="02020603050405020304" pitchFamily="18" charset="0"/>
                <a:cs typeface="Times New Roman" panose="02020603050405020304" pitchFamily="18" charset="0"/>
              </a:rPr>
              <a:t>Protein structure development </a:t>
            </a:r>
          </a:p>
        </p:txBody>
      </p:sp>
    </p:spTree>
    <p:extLst>
      <p:ext uri="{BB962C8B-B14F-4D97-AF65-F5344CB8AC3E}">
        <p14:creationId xmlns:p14="http://schemas.microsoft.com/office/powerpoint/2010/main" val="37688161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A85D-10B6-6E4F-3F46-6CD7FE8B27A2}"/>
              </a:ext>
            </a:extLst>
          </p:cNvPr>
          <p:cNvPicPr>
            <a:picLocks noChangeAspect="1"/>
          </p:cNvPicPr>
          <p:nvPr/>
        </p:nvPicPr>
        <p:blipFill>
          <a:blip r:embed="rId2"/>
          <a:srcRect t="1596" r="1313"/>
          <a:stretch/>
        </p:blipFill>
        <p:spPr>
          <a:xfrm>
            <a:off x="485774" y="840921"/>
            <a:ext cx="8303079" cy="3845379"/>
          </a:xfrm>
          <a:prstGeom prst="rect">
            <a:avLst/>
          </a:prstGeom>
        </p:spPr>
      </p:pic>
    </p:spTree>
    <p:extLst>
      <p:ext uri="{BB962C8B-B14F-4D97-AF65-F5344CB8AC3E}">
        <p14:creationId xmlns:p14="http://schemas.microsoft.com/office/powerpoint/2010/main" val="29875103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773C2-E5C6-C206-9025-2B351F01A921}"/>
              </a:ext>
            </a:extLst>
          </p:cNvPr>
          <p:cNvSpPr>
            <a:spLocks noGrp="1"/>
          </p:cNvSpPr>
          <p:nvPr>
            <p:ph type="title"/>
          </p:nvPr>
        </p:nvSpPr>
        <p:spPr>
          <a:xfrm>
            <a:off x="457200" y="0"/>
            <a:ext cx="8229600" cy="857250"/>
          </a:xfrm>
        </p:spPr>
        <p:txBody>
          <a:bodyPr/>
          <a:lstStyle/>
          <a:p>
            <a:r>
              <a:rPr lang="en-US" dirty="0">
                <a:latin typeface="Times New Roman" panose="02020603050405020304" pitchFamily="18" charset="0"/>
                <a:cs typeface="Times New Roman" panose="02020603050405020304" pitchFamily="18" charset="0"/>
              </a:rPr>
              <a:t>1. DYNA MUT 2</a:t>
            </a:r>
            <a:endParaRPr lang="en-US" dirty="0"/>
          </a:p>
        </p:txBody>
      </p:sp>
      <p:pic>
        <p:nvPicPr>
          <p:cNvPr id="4" name="Picture 3">
            <a:extLst>
              <a:ext uri="{FF2B5EF4-FFF2-40B4-BE49-F238E27FC236}">
                <a16:creationId xmlns:a16="http://schemas.microsoft.com/office/drawing/2014/main" id="{CB78D790-64B3-CD15-A374-C07FD66CAED5}"/>
              </a:ext>
            </a:extLst>
          </p:cNvPr>
          <p:cNvPicPr>
            <a:picLocks noChangeAspect="1"/>
          </p:cNvPicPr>
          <p:nvPr/>
        </p:nvPicPr>
        <p:blipFill>
          <a:blip r:embed="rId2"/>
          <a:stretch>
            <a:fillRect/>
          </a:stretch>
        </p:blipFill>
        <p:spPr>
          <a:xfrm>
            <a:off x="1066109" y="969655"/>
            <a:ext cx="6864945" cy="4043216"/>
          </a:xfrm>
          <a:prstGeom prst="rect">
            <a:avLst/>
          </a:prstGeom>
        </p:spPr>
      </p:pic>
    </p:spTree>
    <p:extLst>
      <p:ext uri="{BB962C8B-B14F-4D97-AF65-F5344CB8AC3E}">
        <p14:creationId xmlns:p14="http://schemas.microsoft.com/office/powerpoint/2010/main" val="2926477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2C4EB-C3A6-27A9-3ACD-9B483E2D308A}"/>
              </a:ext>
            </a:extLst>
          </p:cNvPr>
          <p:cNvSpPr>
            <a:spLocks noGrp="1"/>
          </p:cNvSpPr>
          <p:nvPr>
            <p:ph type="title"/>
          </p:nvPr>
        </p:nvSpPr>
        <p:spPr>
          <a:xfrm>
            <a:off x="457200" y="-112428"/>
            <a:ext cx="8229600" cy="857250"/>
          </a:xfrm>
        </p:spPr>
        <p:txBody>
          <a:bodyPr/>
          <a:lstStyle/>
          <a:p>
            <a:r>
              <a:rPr lang="en-US" dirty="0">
                <a:latin typeface="Times New Roman" panose="02020603050405020304" pitchFamily="18" charset="0"/>
                <a:cs typeface="Times New Roman" panose="02020603050405020304" pitchFamily="18" charset="0"/>
              </a:rPr>
              <a:t>DYNA MUT 2 RESULT</a:t>
            </a:r>
          </a:p>
        </p:txBody>
      </p:sp>
      <p:pic>
        <p:nvPicPr>
          <p:cNvPr id="4" name="Picture 3">
            <a:extLst>
              <a:ext uri="{FF2B5EF4-FFF2-40B4-BE49-F238E27FC236}">
                <a16:creationId xmlns:a16="http://schemas.microsoft.com/office/drawing/2014/main" id="{16F5F8F9-B9B3-EE06-519C-56E6CD3E04AE}"/>
              </a:ext>
            </a:extLst>
          </p:cNvPr>
          <p:cNvPicPr>
            <a:picLocks noChangeAspect="1"/>
          </p:cNvPicPr>
          <p:nvPr/>
        </p:nvPicPr>
        <p:blipFill>
          <a:blip r:embed="rId2"/>
          <a:stretch>
            <a:fillRect/>
          </a:stretch>
        </p:blipFill>
        <p:spPr>
          <a:xfrm>
            <a:off x="1020536" y="571500"/>
            <a:ext cx="7127421" cy="4572000"/>
          </a:xfrm>
          <a:prstGeom prst="rect">
            <a:avLst/>
          </a:prstGeom>
        </p:spPr>
      </p:pic>
    </p:spTree>
    <p:extLst>
      <p:ext uri="{BB962C8B-B14F-4D97-AF65-F5344CB8AC3E}">
        <p14:creationId xmlns:p14="http://schemas.microsoft.com/office/powerpoint/2010/main" val="3401985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D3384-2D2D-D1A7-ECFB-48DD93B27898}"/>
              </a:ext>
            </a:extLst>
          </p:cNvPr>
          <p:cNvSpPr>
            <a:spLocks noGrp="1"/>
          </p:cNvSpPr>
          <p:nvPr>
            <p:ph type="title"/>
          </p:nvPr>
        </p:nvSpPr>
        <p:spPr>
          <a:xfrm>
            <a:off x="457200" y="0"/>
            <a:ext cx="8229600" cy="857250"/>
          </a:xfrm>
        </p:spPr>
        <p:txBody>
          <a:bodyPr/>
          <a:lstStyle/>
          <a:p>
            <a:r>
              <a:rPr lang="en-US" dirty="0">
                <a:latin typeface="Times New Roman" panose="02020603050405020304" pitchFamily="18" charset="0"/>
                <a:cs typeface="Times New Roman" panose="02020603050405020304" pitchFamily="18" charset="0"/>
              </a:rPr>
              <a:t>2.DUET</a:t>
            </a:r>
          </a:p>
        </p:txBody>
      </p:sp>
      <p:pic>
        <p:nvPicPr>
          <p:cNvPr id="4" name="Picture 3">
            <a:extLst>
              <a:ext uri="{FF2B5EF4-FFF2-40B4-BE49-F238E27FC236}">
                <a16:creationId xmlns:a16="http://schemas.microsoft.com/office/drawing/2014/main" id="{F2CBBDCA-411F-0681-1F91-6A640B6069EE}"/>
              </a:ext>
            </a:extLst>
          </p:cNvPr>
          <p:cNvPicPr>
            <a:picLocks noChangeAspect="1"/>
          </p:cNvPicPr>
          <p:nvPr/>
        </p:nvPicPr>
        <p:blipFill>
          <a:blip r:embed="rId2"/>
          <a:stretch>
            <a:fillRect/>
          </a:stretch>
        </p:blipFill>
        <p:spPr>
          <a:xfrm>
            <a:off x="947057" y="979714"/>
            <a:ext cx="7364185" cy="4049485"/>
          </a:xfrm>
          <a:prstGeom prst="rect">
            <a:avLst/>
          </a:prstGeom>
        </p:spPr>
      </p:pic>
    </p:spTree>
    <p:extLst>
      <p:ext uri="{BB962C8B-B14F-4D97-AF65-F5344CB8AC3E}">
        <p14:creationId xmlns:p14="http://schemas.microsoft.com/office/powerpoint/2010/main" val="25342710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E256B-EAB0-0A66-4E52-2278EDF189A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DUET RESULT</a:t>
            </a:r>
          </a:p>
        </p:txBody>
      </p:sp>
      <p:pic>
        <p:nvPicPr>
          <p:cNvPr id="4" name="Picture 3">
            <a:extLst>
              <a:ext uri="{FF2B5EF4-FFF2-40B4-BE49-F238E27FC236}">
                <a16:creationId xmlns:a16="http://schemas.microsoft.com/office/drawing/2014/main" id="{7E91812D-46BB-422C-F5D5-4302C8007531}"/>
              </a:ext>
            </a:extLst>
          </p:cNvPr>
          <p:cNvPicPr>
            <a:picLocks noChangeAspect="1"/>
          </p:cNvPicPr>
          <p:nvPr/>
        </p:nvPicPr>
        <p:blipFill>
          <a:blip r:embed="rId2"/>
          <a:stretch>
            <a:fillRect/>
          </a:stretch>
        </p:blipFill>
        <p:spPr>
          <a:xfrm>
            <a:off x="1234352" y="1131842"/>
            <a:ext cx="6505391" cy="4011658"/>
          </a:xfrm>
          <a:prstGeom prst="rect">
            <a:avLst/>
          </a:prstGeom>
        </p:spPr>
      </p:pic>
    </p:spTree>
    <p:extLst>
      <p:ext uri="{BB962C8B-B14F-4D97-AF65-F5344CB8AC3E}">
        <p14:creationId xmlns:p14="http://schemas.microsoft.com/office/powerpoint/2010/main" val="38359853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8823A-024B-D54D-ABF2-1BDDD9F42F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4AC91-FC7F-04C7-0C2C-8F5A767CA595}"/>
              </a:ext>
            </a:extLst>
          </p:cNvPr>
          <p:cNvSpPr>
            <a:spLocks noGrp="1"/>
          </p:cNvSpPr>
          <p:nvPr>
            <p:ph type="title"/>
          </p:nvPr>
        </p:nvSpPr>
        <p:spPr>
          <a:xfrm>
            <a:off x="555472" y="222308"/>
            <a:ext cx="8229600" cy="857250"/>
          </a:xfrm>
        </p:spPr>
        <p:txBody>
          <a:bodyPr/>
          <a:lstStyle/>
          <a:p>
            <a:r>
              <a:rPr lang="en-US" sz="3600" dirty="0">
                <a:latin typeface="Times New Roman" panose="02020603050405020304" pitchFamily="18" charset="0"/>
                <a:ea typeface="Times New Roman" panose="02020603050405020304" pitchFamily="18" charset="0"/>
                <a:cs typeface="Times New Roman" panose="02020603050405020304" pitchFamily="18" charset="0"/>
              </a:rPr>
              <a:t>3.</a:t>
            </a:r>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 MUPRO</a:t>
            </a:r>
            <a:endParaRPr lang="en-US" sz="3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234CDA-38A1-EDA3-6623-D8328AE68E76}"/>
              </a:ext>
            </a:extLst>
          </p:cNvPr>
          <p:cNvPicPr>
            <a:picLocks noChangeAspect="1"/>
          </p:cNvPicPr>
          <p:nvPr/>
        </p:nvPicPr>
        <p:blipFill>
          <a:blip r:embed="rId2"/>
          <a:stretch>
            <a:fillRect/>
          </a:stretch>
        </p:blipFill>
        <p:spPr>
          <a:xfrm>
            <a:off x="1186239" y="1212791"/>
            <a:ext cx="6968067" cy="3708401"/>
          </a:xfrm>
          <a:prstGeom prst="rect">
            <a:avLst/>
          </a:prstGeom>
        </p:spPr>
      </p:pic>
    </p:spTree>
    <p:extLst>
      <p:ext uri="{BB962C8B-B14F-4D97-AF65-F5344CB8AC3E}">
        <p14:creationId xmlns:p14="http://schemas.microsoft.com/office/powerpoint/2010/main" val="35948791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4ED53-5BF7-E7FE-7F53-31E4C42B9A2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MUPRO RESULT</a:t>
            </a:r>
          </a:p>
        </p:txBody>
      </p:sp>
      <p:pic>
        <p:nvPicPr>
          <p:cNvPr id="10" name="Picture 9">
            <a:extLst>
              <a:ext uri="{FF2B5EF4-FFF2-40B4-BE49-F238E27FC236}">
                <a16:creationId xmlns:a16="http://schemas.microsoft.com/office/drawing/2014/main" id="{64A63380-D4B7-F2A9-12DD-C0B274327C2E}"/>
              </a:ext>
            </a:extLst>
          </p:cNvPr>
          <p:cNvPicPr>
            <a:picLocks noChangeAspect="1"/>
          </p:cNvPicPr>
          <p:nvPr/>
        </p:nvPicPr>
        <p:blipFill>
          <a:blip r:embed="rId2"/>
          <a:stretch>
            <a:fillRect/>
          </a:stretch>
        </p:blipFill>
        <p:spPr>
          <a:xfrm>
            <a:off x="1189265" y="1063229"/>
            <a:ext cx="7010400" cy="3844607"/>
          </a:xfrm>
          <a:prstGeom prst="rect">
            <a:avLst/>
          </a:prstGeom>
        </p:spPr>
      </p:pic>
    </p:spTree>
    <p:extLst>
      <p:ext uri="{BB962C8B-B14F-4D97-AF65-F5344CB8AC3E}">
        <p14:creationId xmlns:p14="http://schemas.microsoft.com/office/powerpoint/2010/main" val="32472530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832FB-0AB4-AD70-C060-71949C6840B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4. I-MUTANT</a:t>
            </a:r>
          </a:p>
        </p:txBody>
      </p:sp>
      <p:pic>
        <p:nvPicPr>
          <p:cNvPr id="4" name="Picture 3">
            <a:extLst>
              <a:ext uri="{FF2B5EF4-FFF2-40B4-BE49-F238E27FC236}">
                <a16:creationId xmlns:a16="http://schemas.microsoft.com/office/drawing/2014/main" id="{F1A366F2-0137-6EA5-8AB5-5D0323C08EAF}"/>
              </a:ext>
            </a:extLst>
          </p:cNvPr>
          <p:cNvPicPr>
            <a:picLocks noChangeAspect="1"/>
          </p:cNvPicPr>
          <p:nvPr/>
        </p:nvPicPr>
        <p:blipFill>
          <a:blip r:embed="rId2"/>
          <a:stretch>
            <a:fillRect/>
          </a:stretch>
        </p:blipFill>
        <p:spPr>
          <a:xfrm>
            <a:off x="1116693" y="1213730"/>
            <a:ext cx="7239000" cy="3320453"/>
          </a:xfrm>
          <a:prstGeom prst="rect">
            <a:avLst/>
          </a:prstGeom>
        </p:spPr>
      </p:pic>
    </p:spTree>
    <p:extLst>
      <p:ext uri="{BB962C8B-B14F-4D97-AF65-F5344CB8AC3E}">
        <p14:creationId xmlns:p14="http://schemas.microsoft.com/office/powerpoint/2010/main" val="41295157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F227C-E1F6-0103-B6E4-7DD5FDDA358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I-MUTANT RESULT</a:t>
            </a:r>
            <a:endParaRPr lang="en-US" dirty="0"/>
          </a:p>
        </p:txBody>
      </p:sp>
      <p:pic>
        <p:nvPicPr>
          <p:cNvPr id="6" name="Picture 5">
            <a:extLst>
              <a:ext uri="{FF2B5EF4-FFF2-40B4-BE49-F238E27FC236}">
                <a16:creationId xmlns:a16="http://schemas.microsoft.com/office/drawing/2014/main" id="{274BB8E8-F1B4-355F-EB47-AC12CFFF94FE}"/>
              </a:ext>
            </a:extLst>
          </p:cNvPr>
          <p:cNvPicPr>
            <a:picLocks noChangeAspect="1"/>
          </p:cNvPicPr>
          <p:nvPr/>
        </p:nvPicPr>
        <p:blipFill>
          <a:blip r:embed="rId2"/>
          <a:stretch>
            <a:fillRect/>
          </a:stretch>
        </p:blipFill>
        <p:spPr>
          <a:xfrm>
            <a:off x="996043" y="986637"/>
            <a:ext cx="7625443" cy="3856599"/>
          </a:xfrm>
          <a:prstGeom prst="rect">
            <a:avLst/>
          </a:prstGeom>
        </p:spPr>
      </p:pic>
    </p:spTree>
    <p:extLst>
      <p:ext uri="{BB962C8B-B14F-4D97-AF65-F5344CB8AC3E}">
        <p14:creationId xmlns:p14="http://schemas.microsoft.com/office/powerpoint/2010/main" val="1863562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3C51A-D8C1-42F6-5E4C-5DD96365760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5. I-STABLE </a:t>
            </a:r>
          </a:p>
        </p:txBody>
      </p:sp>
      <p:pic>
        <p:nvPicPr>
          <p:cNvPr id="8" name="Picture 7">
            <a:extLst>
              <a:ext uri="{FF2B5EF4-FFF2-40B4-BE49-F238E27FC236}">
                <a16:creationId xmlns:a16="http://schemas.microsoft.com/office/drawing/2014/main" id="{6E94E296-39E2-C49F-02EB-5466D464F70F}"/>
              </a:ext>
            </a:extLst>
          </p:cNvPr>
          <p:cNvPicPr>
            <a:picLocks noChangeAspect="1"/>
          </p:cNvPicPr>
          <p:nvPr/>
        </p:nvPicPr>
        <p:blipFill>
          <a:blip r:embed="rId2"/>
          <a:stretch>
            <a:fillRect/>
          </a:stretch>
        </p:blipFill>
        <p:spPr>
          <a:xfrm>
            <a:off x="1779814" y="1063229"/>
            <a:ext cx="6270172" cy="3843551"/>
          </a:xfrm>
          <a:prstGeom prst="rect">
            <a:avLst/>
          </a:prstGeom>
        </p:spPr>
      </p:pic>
    </p:spTree>
    <p:extLst>
      <p:ext uri="{BB962C8B-B14F-4D97-AF65-F5344CB8AC3E}">
        <p14:creationId xmlns:p14="http://schemas.microsoft.com/office/powerpoint/2010/main" val="39559773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A01E2-0FB6-05CE-175C-6B78160A5E5E}"/>
              </a:ext>
            </a:extLst>
          </p:cNvPr>
          <p:cNvSpPr>
            <a:spLocks noGrp="1"/>
          </p:cNvSpPr>
          <p:nvPr>
            <p:ph type="title"/>
          </p:nvPr>
        </p:nvSpPr>
        <p:spPr>
          <a:xfrm>
            <a:off x="457200" y="0"/>
            <a:ext cx="8229600" cy="857250"/>
          </a:xfrm>
        </p:spPr>
        <p:txBody>
          <a:bodyPr/>
          <a:lstStyle/>
          <a:p>
            <a:r>
              <a:rPr lang="en-US" dirty="0">
                <a:latin typeface="Times New Roman" panose="02020603050405020304" pitchFamily="18" charset="0"/>
                <a:cs typeface="Times New Roman" panose="02020603050405020304" pitchFamily="18" charset="0"/>
              </a:rPr>
              <a:t>I-STABLE RESULT</a:t>
            </a:r>
            <a:endParaRPr lang="en-US" dirty="0"/>
          </a:p>
        </p:txBody>
      </p:sp>
      <p:pic>
        <p:nvPicPr>
          <p:cNvPr id="4" name="Picture 3">
            <a:extLst>
              <a:ext uri="{FF2B5EF4-FFF2-40B4-BE49-F238E27FC236}">
                <a16:creationId xmlns:a16="http://schemas.microsoft.com/office/drawing/2014/main" id="{55D5D51E-38D1-BD68-A7D0-1C09D2C3D674}"/>
              </a:ext>
            </a:extLst>
          </p:cNvPr>
          <p:cNvPicPr>
            <a:picLocks noChangeAspect="1"/>
          </p:cNvPicPr>
          <p:nvPr/>
        </p:nvPicPr>
        <p:blipFill>
          <a:blip r:embed="rId2"/>
          <a:stretch>
            <a:fillRect/>
          </a:stretch>
        </p:blipFill>
        <p:spPr>
          <a:xfrm>
            <a:off x="870334" y="857250"/>
            <a:ext cx="7816466" cy="4045256"/>
          </a:xfrm>
          <a:prstGeom prst="rect">
            <a:avLst/>
          </a:prstGeom>
        </p:spPr>
      </p:pic>
    </p:spTree>
    <p:extLst>
      <p:ext uri="{BB962C8B-B14F-4D97-AF65-F5344CB8AC3E}">
        <p14:creationId xmlns:p14="http://schemas.microsoft.com/office/powerpoint/2010/main" val="26159715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21399-73AE-DE4D-3AB7-A19C5FE88A84}"/>
              </a:ext>
            </a:extLst>
          </p:cNvPr>
          <p:cNvSpPr>
            <a:spLocks noGrp="1"/>
          </p:cNvSpPr>
          <p:nvPr>
            <p:ph type="title"/>
          </p:nvPr>
        </p:nvSpPr>
        <p:spPr>
          <a:xfrm>
            <a:off x="544665" y="70568"/>
            <a:ext cx="8229600" cy="857250"/>
          </a:xfrm>
        </p:spPr>
        <p:txBody>
          <a:bodyPr/>
          <a:lstStyle/>
          <a:p>
            <a:r>
              <a:rPr lang="en-US" dirty="0">
                <a:latin typeface="Times New Roman" panose="02020603050405020304" pitchFamily="18" charset="0"/>
                <a:cs typeface="Times New Roman" panose="02020603050405020304" pitchFamily="18" charset="0"/>
              </a:rPr>
              <a:t>Structure Based analysis result sheet</a:t>
            </a:r>
            <a:endParaRPr lang="en-US" dirty="0"/>
          </a:p>
        </p:txBody>
      </p:sp>
      <p:pic>
        <p:nvPicPr>
          <p:cNvPr id="6" name="Picture 5">
            <a:extLst>
              <a:ext uri="{FF2B5EF4-FFF2-40B4-BE49-F238E27FC236}">
                <a16:creationId xmlns:a16="http://schemas.microsoft.com/office/drawing/2014/main" id="{6C3ACADD-E12D-030F-FB77-A38775F59D12}"/>
              </a:ext>
            </a:extLst>
          </p:cNvPr>
          <p:cNvPicPr>
            <a:picLocks noChangeAspect="1"/>
          </p:cNvPicPr>
          <p:nvPr/>
        </p:nvPicPr>
        <p:blipFill>
          <a:blip r:embed="rId2"/>
          <a:stretch>
            <a:fillRect/>
          </a:stretch>
        </p:blipFill>
        <p:spPr>
          <a:xfrm>
            <a:off x="0" y="1063229"/>
            <a:ext cx="9144000" cy="4009703"/>
          </a:xfrm>
          <a:prstGeom prst="rect">
            <a:avLst/>
          </a:prstGeom>
        </p:spPr>
      </p:pic>
    </p:spTree>
    <p:extLst>
      <p:ext uri="{BB962C8B-B14F-4D97-AF65-F5344CB8AC3E}">
        <p14:creationId xmlns:p14="http://schemas.microsoft.com/office/powerpoint/2010/main" val="10075166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C273-CF50-10A4-D959-0D4C899C52CF}"/>
              </a:ext>
            </a:extLst>
          </p:cNvPr>
          <p:cNvSpPr>
            <a:spLocks noGrp="1"/>
          </p:cNvSpPr>
          <p:nvPr>
            <p:ph type="title"/>
          </p:nvPr>
        </p:nvSpPr>
        <p:spPr/>
        <p:txBody>
          <a:bodyPr/>
          <a:lstStyle/>
          <a:p>
            <a:r>
              <a:rPr lang="en-US" sz="4000" b="1" dirty="0">
                <a:effectLst/>
                <a:latin typeface="Times New Roman" panose="02020603050405020304" pitchFamily="18" charset="0"/>
                <a:ea typeface="Times New Roman" panose="02020603050405020304" pitchFamily="18" charset="0"/>
              </a:rPr>
              <a:t>Molecular dynamics</a:t>
            </a:r>
            <a:endParaRPr lang="en-US" sz="6000" dirty="0"/>
          </a:p>
        </p:txBody>
      </p:sp>
      <p:sp>
        <p:nvSpPr>
          <p:cNvPr id="4" name="TextBox 3">
            <a:extLst>
              <a:ext uri="{FF2B5EF4-FFF2-40B4-BE49-F238E27FC236}">
                <a16:creationId xmlns:a16="http://schemas.microsoft.com/office/drawing/2014/main" id="{2393473E-E198-62FA-6532-36CA5FF8AE3D}"/>
              </a:ext>
            </a:extLst>
          </p:cNvPr>
          <p:cNvSpPr txBox="1"/>
          <p:nvPr/>
        </p:nvSpPr>
        <p:spPr>
          <a:xfrm>
            <a:off x="110169" y="1063229"/>
            <a:ext cx="8923662" cy="3477875"/>
          </a:xfrm>
          <a:prstGeom prst="rect">
            <a:avLst/>
          </a:prstGeom>
          <a:noFill/>
        </p:spPr>
        <p:txBody>
          <a:bodyPr wrap="square" rtlCol="0">
            <a:spAutoFit/>
          </a:bodyPr>
          <a:lstStyle/>
          <a:p>
            <a:pPr marL="285750" indent="-285750" algn="just">
              <a:buFont typeface="Arial" panose="020B0604020202020204" pitchFamily="34" charset="0"/>
              <a:buChar char="•"/>
            </a:pPr>
            <a:r>
              <a:rPr lang="en-US" sz="2000" kern="100" dirty="0">
                <a:effectLst/>
                <a:latin typeface="Times New Roman" panose="02020603050405020304" pitchFamily="18" charset="0"/>
                <a:ea typeface="Gungsuh" panose="02030600000101010101" pitchFamily="18" charset="-127"/>
                <a:cs typeface="Times New Roman" panose="02020603050405020304" pitchFamily="18" charset="0"/>
              </a:rPr>
              <a:t>Molecular dynamics simulations were performed on the wild-type and three mutant variants of the protein.</a:t>
            </a:r>
          </a:p>
          <a:p>
            <a:pPr marL="285750" indent="-285750" algn="just">
              <a:buFont typeface="Arial" panose="020B0604020202020204" pitchFamily="34" charset="0"/>
              <a:buChar char="•"/>
            </a:pPr>
            <a:r>
              <a:rPr lang="en-US" sz="2000" kern="100" dirty="0">
                <a:effectLst/>
                <a:latin typeface="Times New Roman" panose="02020603050405020304" pitchFamily="18" charset="0"/>
                <a:ea typeface="Gungsuh" panose="02030600000101010101" pitchFamily="18" charset="-127"/>
                <a:cs typeface="Times New Roman" panose="02020603050405020304" pitchFamily="18" charset="0"/>
              </a:rPr>
              <a:t>The pdb2gmx module of GROMACS was utilized to add hydrogen atoms to the heavy atoms. </a:t>
            </a:r>
          </a:p>
          <a:p>
            <a:pPr marL="285750" indent="-285750" algn="just">
              <a:buFont typeface="Arial" panose="020B0604020202020204" pitchFamily="34" charset="0"/>
              <a:buChar char="•"/>
            </a:pPr>
            <a:r>
              <a:rPr lang="en-US" sz="2000" kern="100" dirty="0">
                <a:effectLst/>
                <a:latin typeface="Times New Roman" panose="02020603050405020304" pitchFamily="18" charset="0"/>
                <a:ea typeface="Gungsuh" panose="02030600000101010101" pitchFamily="18" charset="-127"/>
                <a:cs typeface="Times New Roman" panose="02020603050405020304" pitchFamily="18" charset="0"/>
              </a:rPr>
              <a:t>The resulting simulation trajectories were analyzed using various tools from the GROMACS software package to evaluate key structural and dynamic properties. </a:t>
            </a:r>
          </a:p>
          <a:p>
            <a:pPr marL="285750" indent="-285750" algn="just">
              <a:buFont typeface="Arial" panose="020B0604020202020204" pitchFamily="34" charset="0"/>
              <a:buChar char="•"/>
            </a:pPr>
            <a:r>
              <a:rPr lang="en-US" sz="2000" kern="100" dirty="0">
                <a:effectLst/>
                <a:latin typeface="Times New Roman" panose="02020603050405020304" pitchFamily="18" charset="0"/>
                <a:ea typeface="Gungsuh" panose="02030600000101010101" pitchFamily="18" charset="-127"/>
                <a:cs typeface="Times New Roman" panose="02020603050405020304" pitchFamily="18" charset="0"/>
              </a:rPr>
              <a:t>These analyses included protein root mean square deviation (RMSD), root mean square fluctuation (RMSF), radius of gyration (</a:t>
            </a:r>
            <a:r>
              <a:rPr lang="en-US" sz="2000" kern="100" dirty="0" err="1">
                <a:effectLst/>
                <a:latin typeface="Times New Roman" panose="02020603050405020304" pitchFamily="18" charset="0"/>
                <a:ea typeface="Gungsuh" panose="02030600000101010101" pitchFamily="18" charset="-127"/>
                <a:cs typeface="Times New Roman" panose="02020603050405020304" pitchFamily="18" charset="0"/>
              </a:rPr>
              <a:t>Rg</a:t>
            </a:r>
            <a:r>
              <a:rPr lang="en-US" sz="2000" kern="100" dirty="0">
                <a:effectLst/>
                <a:latin typeface="Times New Roman" panose="02020603050405020304" pitchFamily="18" charset="0"/>
                <a:ea typeface="Gungsuh" panose="02030600000101010101" pitchFamily="18" charset="-127"/>
                <a:cs typeface="Times New Roman" panose="02020603050405020304" pitchFamily="18" charset="0"/>
              </a:rPr>
              <a:t>), solvent-accessible surface area (SASA), and hydrogen bonding(H-bond) interactions.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buFont typeface="Arial" panose="020B0604020202020204" pitchFamily="34" charset="0"/>
              <a:buChar char="•"/>
            </a:pPr>
            <a:r>
              <a:rPr lang="en-US" sz="2000" kern="100" dirty="0">
                <a:effectLst/>
                <a:latin typeface="Times New Roman" panose="02020603050405020304" pitchFamily="18" charset="0"/>
                <a:ea typeface="Gungsuh" panose="02030600000101010101" pitchFamily="18" charset="-127"/>
                <a:cs typeface="Times New Roman" panose="02020603050405020304" pitchFamily="18" charset="0"/>
              </a:rPr>
              <a:t>System preparation followed the methodology described in a previously published study [PMID: 31514687]. </a:t>
            </a:r>
            <a:endParaRPr lang="en-US" sz="1600" dirty="0"/>
          </a:p>
        </p:txBody>
      </p:sp>
    </p:spTree>
    <p:extLst>
      <p:ext uri="{BB962C8B-B14F-4D97-AF65-F5344CB8AC3E}">
        <p14:creationId xmlns:p14="http://schemas.microsoft.com/office/powerpoint/2010/main" val="9633227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DF81A-7E40-87FE-D811-EB7B1E27E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C97A4-8955-D7FA-60D8-79A1D2A22C39}"/>
              </a:ext>
            </a:extLst>
          </p:cNvPr>
          <p:cNvSpPr>
            <a:spLocks noGrp="1"/>
          </p:cNvSpPr>
          <p:nvPr>
            <p:ph type="title"/>
          </p:nvPr>
        </p:nvSpPr>
        <p:spPr>
          <a:xfrm>
            <a:off x="457200" y="2143125"/>
            <a:ext cx="8229600" cy="857250"/>
          </a:xfrm>
        </p:spPr>
        <p:txBody>
          <a:bodyPr/>
          <a:lstStyle/>
          <a:p>
            <a:r>
              <a:rPr lang="en-US" sz="4400" b="1" dirty="0">
                <a:latin typeface="Times New Roman" panose="02020603050405020304" pitchFamily="18" charset="0"/>
                <a:cs typeface="Times New Roman" panose="02020603050405020304" pitchFamily="18" charset="0"/>
              </a:rPr>
              <a:t>RESULTS </a:t>
            </a:r>
            <a:br>
              <a:rPr lang="en-US" sz="4400" b="1"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&amp;</a:t>
            </a:r>
            <a:br>
              <a:rPr lang="en-US" sz="4400" b="1"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 DISCUSSION   </a:t>
            </a:r>
          </a:p>
        </p:txBody>
      </p:sp>
    </p:spTree>
    <p:extLst>
      <p:ext uri="{BB962C8B-B14F-4D97-AF65-F5344CB8AC3E}">
        <p14:creationId xmlns:p14="http://schemas.microsoft.com/office/powerpoint/2010/main" val="1472520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FF08C-01CC-8BCC-CD83-D5955AC3BDEC}"/>
              </a:ext>
            </a:extLst>
          </p:cNvPr>
          <p:cNvSpPr>
            <a:spLocks noGrp="1"/>
          </p:cNvSpPr>
          <p:nvPr>
            <p:ph type="title"/>
          </p:nvPr>
        </p:nvSpPr>
        <p:spPr/>
        <p:txBody>
          <a:bodyPr/>
          <a:lstStyle/>
          <a:p>
            <a:r>
              <a:rPr lang="en-US" sz="2800" b="1" dirty="0">
                <a:effectLst/>
                <a:latin typeface="Times New Roman" panose="02020603050405020304" pitchFamily="18" charset="0"/>
                <a:ea typeface="Times New Roman" panose="02020603050405020304" pitchFamily="18" charset="0"/>
              </a:rPr>
              <a:t>Root Mean Square Deviation (RMSD)</a:t>
            </a:r>
            <a:endParaRPr lang="en-US" sz="4400" dirty="0"/>
          </a:p>
        </p:txBody>
      </p:sp>
      <p:pic>
        <p:nvPicPr>
          <p:cNvPr id="3" name="image2.png">
            <a:extLst>
              <a:ext uri="{FF2B5EF4-FFF2-40B4-BE49-F238E27FC236}">
                <a16:creationId xmlns:a16="http://schemas.microsoft.com/office/drawing/2014/main" id="{AD8EE0A2-7842-A0FB-14ED-2446305224D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837282" y="1114310"/>
            <a:ext cx="7469436" cy="2914880"/>
          </a:xfrm>
          <a:prstGeom prst="rect">
            <a:avLst/>
          </a:prstGeom>
          <a:ln/>
        </p:spPr>
      </p:pic>
      <p:sp>
        <p:nvSpPr>
          <p:cNvPr id="4" name="TextBox 3">
            <a:extLst>
              <a:ext uri="{FF2B5EF4-FFF2-40B4-BE49-F238E27FC236}">
                <a16:creationId xmlns:a16="http://schemas.microsoft.com/office/drawing/2014/main" id="{1FEAD452-6CEB-8D7E-7365-9C61661FF51D}"/>
              </a:ext>
            </a:extLst>
          </p:cNvPr>
          <p:cNvSpPr txBox="1"/>
          <p:nvPr/>
        </p:nvSpPr>
        <p:spPr>
          <a:xfrm>
            <a:off x="837282" y="4148722"/>
            <a:ext cx="7943161" cy="861774"/>
          </a:xfrm>
          <a:prstGeom prst="rect">
            <a:avLst/>
          </a:prstGeom>
          <a:noFill/>
        </p:spPr>
        <p:txBody>
          <a:bodyPr wrap="square" rtlCol="0">
            <a:spAutoFit/>
          </a:bodyPr>
          <a:lstStyle/>
          <a:p>
            <a:pPr algn="ct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RMSD Conformational dynamics analysis of GBA-WT, GBA-I158S ,GBA-I200S, and GBA-I299T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4327663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A53D4-3CE8-96D0-51F7-49D6A1E5C281}"/>
              </a:ext>
            </a:extLst>
          </p:cNvPr>
          <p:cNvSpPr>
            <a:spLocks noGrp="1"/>
          </p:cNvSpPr>
          <p:nvPr>
            <p:ph type="title"/>
          </p:nvPr>
        </p:nvSpPr>
        <p:spPr/>
        <p:txBody>
          <a:bodyPr/>
          <a:lstStyle/>
          <a:p>
            <a:r>
              <a:rPr lang="en-US" sz="2800" b="1" dirty="0">
                <a:effectLst/>
                <a:latin typeface="Times New Roman" panose="02020603050405020304" pitchFamily="18" charset="0"/>
                <a:ea typeface="Times New Roman" panose="02020603050405020304" pitchFamily="18" charset="0"/>
              </a:rPr>
              <a:t>Root Mean Square Fluctuation (RMSF)</a:t>
            </a:r>
            <a:endParaRPr lang="en-US" sz="4400" dirty="0"/>
          </a:p>
        </p:txBody>
      </p:sp>
      <p:pic>
        <p:nvPicPr>
          <p:cNvPr id="3" name="image5.png">
            <a:extLst>
              <a:ext uri="{FF2B5EF4-FFF2-40B4-BE49-F238E27FC236}">
                <a16:creationId xmlns:a16="http://schemas.microsoft.com/office/drawing/2014/main" id="{CA5896B0-E541-6365-0087-D6D6E595D72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892366" y="1261461"/>
            <a:ext cx="7359268" cy="2792745"/>
          </a:xfrm>
          <a:prstGeom prst="rect">
            <a:avLst/>
          </a:prstGeom>
          <a:ln/>
        </p:spPr>
      </p:pic>
      <p:sp>
        <p:nvSpPr>
          <p:cNvPr id="5" name="TextBox 4">
            <a:extLst>
              <a:ext uri="{FF2B5EF4-FFF2-40B4-BE49-F238E27FC236}">
                <a16:creationId xmlns:a16="http://schemas.microsoft.com/office/drawing/2014/main" id="{C4E698C5-EB2B-D34D-187A-8174F892524C}"/>
              </a:ext>
            </a:extLst>
          </p:cNvPr>
          <p:cNvSpPr txBox="1"/>
          <p:nvPr/>
        </p:nvSpPr>
        <p:spPr>
          <a:xfrm>
            <a:off x="1504604" y="4123113"/>
            <a:ext cx="6650181" cy="923330"/>
          </a:xfrm>
          <a:prstGeom prst="rect">
            <a:avLst/>
          </a:prstGeom>
          <a:noFill/>
        </p:spPr>
        <p:txBody>
          <a:bodyPr wrap="square" rtlCol="0">
            <a:spAutoFit/>
          </a:bodyPr>
          <a:lstStyle/>
          <a:p>
            <a:pPr algn="ct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RMSF Conformational dynamics analysis of GBA-WT, GBA-I158S, GBA-I200S and GBA-I299T.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sz="1600" dirty="0"/>
          </a:p>
        </p:txBody>
      </p:sp>
    </p:spTree>
    <p:extLst>
      <p:ext uri="{BB962C8B-B14F-4D97-AF65-F5344CB8AC3E}">
        <p14:creationId xmlns:p14="http://schemas.microsoft.com/office/powerpoint/2010/main" val="16988512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B0840-4605-72AE-17F2-5206D3392D33}"/>
              </a:ext>
            </a:extLst>
          </p:cNvPr>
          <p:cNvSpPr>
            <a:spLocks noGrp="1"/>
          </p:cNvSpPr>
          <p:nvPr>
            <p:ph type="title"/>
          </p:nvPr>
        </p:nvSpPr>
        <p:spPr>
          <a:xfrm>
            <a:off x="457200" y="53287"/>
            <a:ext cx="8229600" cy="857250"/>
          </a:xfrm>
        </p:spPr>
        <p:txBody>
          <a:bodyPr/>
          <a:lstStyle/>
          <a:p>
            <a:r>
              <a:rPr lang="en-US" sz="2800" b="1" dirty="0">
                <a:effectLst/>
                <a:latin typeface="Times New Roman" panose="02020603050405020304" pitchFamily="18" charset="0"/>
                <a:ea typeface="Times New Roman" panose="02020603050405020304" pitchFamily="18" charset="0"/>
              </a:rPr>
              <a:t>Radius of gyration (</a:t>
            </a:r>
            <a:r>
              <a:rPr lang="en-US" sz="2800" b="1" dirty="0" err="1">
                <a:effectLst/>
                <a:latin typeface="Times New Roman" panose="02020603050405020304" pitchFamily="18" charset="0"/>
                <a:ea typeface="Times New Roman" panose="02020603050405020304" pitchFamily="18" charset="0"/>
              </a:rPr>
              <a:t>Rg</a:t>
            </a:r>
            <a:r>
              <a:rPr lang="en-US" sz="2800" b="1" dirty="0">
                <a:effectLst/>
                <a:latin typeface="Times New Roman" panose="02020603050405020304" pitchFamily="18" charset="0"/>
                <a:ea typeface="Times New Roman" panose="02020603050405020304" pitchFamily="18" charset="0"/>
              </a:rPr>
              <a:t>)</a:t>
            </a:r>
            <a:endParaRPr lang="en-US" sz="4400" dirty="0"/>
          </a:p>
        </p:txBody>
      </p:sp>
      <p:pic>
        <p:nvPicPr>
          <p:cNvPr id="3" name="image4.png">
            <a:extLst>
              <a:ext uri="{FF2B5EF4-FFF2-40B4-BE49-F238E27FC236}">
                <a16:creationId xmlns:a16="http://schemas.microsoft.com/office/drawing/2014/main" id="{3C860D1A-1E41-57E3-117C-1FDDF63F786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989215" y="1147156"/>
            <a:ext cx="7265323" cy="2620934"/>
          </a:xfrm>
          <a:prstGeom prst="rect">
            <a:avLst/>
          </a:prstGeom>
          <a:ln/>
        </p:spPr>
      </p:pic>
      <p:sp>
        <p:nvSpPr>
          <p:cNvPr id="5" name="TextBox 4">
            <a:extLst>
              <a:ext uri="{FF2B5EF4-FFF2-40B4-BE49-F238E27FC236}">
                <a16:creationId xmlns:a16="http://schemas.microsoft.com/office/drawing/2014/main" id="{B653E58A-4E94-9C60-1499-D64A1EBD32C6}"/>
              </a:ext>
            </a:extLst>
          </p:cNvPr>
          <p:cNvSpPr txBox="1"/>
          <p:nvPr/>
        </p:nvSpPr>
        <p:spPr>
          <a:xfrm>
            <a:off x="1730057" y="4004709"/>
            <a:ext cx="6317672" cy="649671"/>
          </a:xfrm>
          <a:prstGeom prst="rect">
            <a:avLst/>
          </a:prstGeom>
          <a:noFill/>
        </p:spPr>
        <p:txBody>
          <a:bodyPr wrap="square" rtlCol="0">
            <a:spAutoFit/>
          </a:bodyPr>
          <a:lstStyle/>
          <a:p>
            <a:pPr algn="ctr"/>
            <a:r>
              <a:rPr lang="en-US" sz="1800" dirty="0" err="1">
                <a:effectLst/>
                <a:latin typeface="Times New Roman" panose="02020603050405020304" pitchFamily="18" charset="0"/>
                <a:ea typeface="Times New Roman" panose="02020603050405020304" pitchFamily="18" charset="0"/>
              </a:rPr>
              <a:t>Rg</a:t>
            </a:r>
            <a:r>
              <a:rPr lang="en-US" sz="1800" dirty="0">
                <a:effectLst/>
                <a:latin typeface="Times New Roman" panose="02020603050405020304" pitchFamily="18" charset="0"/>
                <a:ea typeface="Times New Roman" panose="02020603050405020304" pitchFamily="18" charset="0"/>
              </a:rPr>
              <a:t> Conformational dynamics analysis of GBA-WT, GBA-I158S, GBA-I200S, and GBA-I299T.</a:t>
            </a:r>
            <a:endParaRPr lang="en-US" dirty="0"/>
          </a:p>
        </p:txBody>
      </p:sp>
    </p:spTree>
    <p:extLst>
      <p:ext uri="{BB962C8B-B14F-4D97-AF65-F5344CB8AC3E}">
        <p14:creationId xmlns:p14="http://schemas.microsoft.com/office/powerpoint/2010/main" val="5530657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E75CA-EBDB-8EB0-6847-4F71650D2CDF}"/>
              </a:ext>
            </a:extLst>
          </p:cNvPr>
          <p:cNvSpPr>
            <a:spLocks noGrp="1"/>
          </p:cNvSpPr>
          <p:nvPr>
            <p:ph type="title"/>
          </p:nvPr>
        </p:nvSpPr>
        <p:spPr>
          <a:xfrm>
            <a:off x="457200" y="264169"/>
            <a:ext cx="8229600" cy="700107"/>
          </a:xfrm>
        </p:spPr>
        <p:txBody>
          <a:bodyPr/>
          <a:lstStyle/>
          <a:p>
            <a:br>
              <a:rPr lang="en-US"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Solvent accessible surface area (SASA)</a:t>
            </a:r>
            <a:br>
              <a:rPr lang="en-US" sz="2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4400" dirty="0"/>
          </a:p>
        </p:txBody>
      </p:sp>
      <p:pic>
        <p:nvPicPr>
          <p:cNvPr id="3" name="image6.png">
            <a:extLst>
              <a:ext uri="{FF2B5EF4-FFF2-40B4-BE49-F238E27FC236}">
                <a16:creationId xmlns:a16="http://schemas.microsoft.com/office/drawing/2014/main" id="{686B6BBB-ABD6-9C90-4DE2-05CADD8EAA6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221971" y="1066685"/>
            <a:ext cx="6907876" cy="3010130"/>
          </a:xfrm>
          <a:prstGeom prst="rect">
            <a:avLst/>
          </a:prstGeom>
          <a:ln/>
        </p:spPr>
      </p:pic>
      <p:sp>
        <p:nvSpPr>
          <p:cNvPr id="4" name="TextBox 3">
            <a:extLst>
              <a:ext uri="{FF2B5EF4-FFF2-40B4-BE49-F238E27FC236}">
                <a16:creationId xmlns:a16="http://schemas.microsoft.com/office/drawing/2014/main" id="{C64717A2-4405-BCA5-BCCB-321932574D3D}"/>
              </a:ext>
            </a:extLst>
          </p:cNvPr>
          <p:cNvSpPr txBox="1"/>
          <p:nvPr/>
        </p:nvSpPr>
        <p:spPr>
          <a:xfrm rot="10800000" flipH="1" flipV="1">
            <a:off x="1363385" y="4179224"/>
            <a:ext cx="7130469" cy="646331"/>
          </a:xfrm>
          <a:prstGeom prst="rect">
            <a:avLst/>
          </a:prstGeom>
          <a:noFill/>
        </p:spPr>
        <p:txBody>
          <a:bodyPr wrap="square" rtlCol="0">
            <a:spAutoFit/>
          </a:bodyPr>
          <a:lstStyle/>
          <a:p>
            <a:pPr algn="ctr"/>
            <a:r>
              <a:rPr lang="en-US" sz="1800" dirty="0">
                <a:effectLst/>
                <a:latin typeface="Times New Roman" panose="02020603050405020304" pitchFamily="18" charset="0"/>
                <a:ea typeface="Times New Roman" panose="02020603050405020304" pitchFamily="18" charset="0"/>
              </a:rPr>
              <a:t>SASA Conformational dynamics analysis of GBA-WT, GBA-I158S, GBA-I200S, and GBA-I299T.</a:t>
            </a:r>
            <a:endParaRPr lang="en-US" dirty="0"/>
          </a:p>
        </p:txBody>
      </p:sp>
    </p:spTree>
    <p:extLst>
      <p:ext uri="{BB962C8B-B14F-4D97-AF65-F5344CB8AC3E}">
        <p14:creationId xmlns:p14="http://schemas.microsoft.com/office/powerpoint/2010/main" val="32061721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34050-031F-DB4C-832D-78B2CDCCFD1F}"/>
              </a:ext>
            </a:extLst>
          </p:cNvPr>
          <p:cNvSpPr>
            <a:spLocks noGrp="1"/>
          </p:cNvSpPr>
          <p:nvPr>
            <p:ph type="title"/>
          </p:nvPr>
        </p:nvSpPr>
        <p:spPr>
          <a:xfrm>
            <a:off x="457200" y="71755"/>
            <a:ext cx="8229600" cy="857250"/>
          </a:xfrm>
        </p:spPr>
        <p:txBody>
          <a:bodyPr/>
          <a:lstStyle/>
          <a:p>
            <a:r>
              <a:rPr lang="en-US" sz="2800" b="1" dirty="0">
                <a:effectLst/>
                <a:latin typeface="Times New Roman" panose="02020603050405020304" pitchFamily="18" charset="0"/>
                <a:ea typeface="Times New Roman" panose="02020603050405020304" pitchFamily="18" charset="0"/>
              </a:rPr>
              <a:t>Intra Hydrogen Bond</a:t>
            </a:r>
            <a:endParaRPr lang="en-US" sz="4400" dirty="0"/>
          </a:p>
        </p:txBody>
      </p:sp>
      <p:pic>
        <p:nvPicPr>
          <p:cNvPr id="3" name="image3.png">
            <a:extLst>
              <a:ext uri="{FF2B5EF4-FFF2-40B4-BE49-F238E27FC236}">
                <a16:creationId xmlns:a16="http://schemas.microsoft.com/office/drawing/2014/main" id="{D0F4D05C-4A2C-B60B-867B-6CAA088DC23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1124125" y="1063229"/>
            <a:ext cx="6878972" cy="2879597"/>
          </a:xfrm>
          <a:prstGeom prst="rect">
            <a:avLst/>
          </a:prstGeom>
          <a:ln/>
        </p:spPr>
      </p:pic>
      <p:sp>
        <p:nvSpPr>
          <p:cNvPr id="4" name="TextBox 3">
            <a:extLst>
              <a:ext uri="{FF2B5EF4-FFF2-40B4-BE49-F238E27FC236}">
                <a16:creationId xmlns:a16="http://schemas.microsoft.com/office/drawing/2014/main" id="{31908865-E09B-BF46-75A7-67829C8F40F9}"/>
              </a:ext>
            </a:extLst>
          </p:cNvPr>
          <p:cNvSpPr txBox="1"/>
          <p:nvPr/>
        </p:nvSpPr>
        <p:spPr>
          <a:xfrm>
            <a:off x="1476462" y="4009938"/>
            <a:ext cx="6350466" cy="861774"/>
          </a:xfrm>
          <a:prstGeom prst="rect">
            <a:avLst/>
          </a:prstGeom>
          <a:noFill/>
        </p:spPr>
        <p:txBody>
          <a:bodyPr wrap="square" rtlCol="0">
            <a:spAutoFit/>
          </a:bodyPr>
          <a:lstStyle/>
          <a:p>
            <a:pPr algn="ct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Intramolecular hydrogen bonds of GBA-WT, GBA-I158S, GBA-I200S, and GBA-I299T during the simulation time.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dirty="0"/>
          </a:p>
        </p:txBody>
      </p:sp>
    </p:spTree>
    <p:extLst>
      <p:ext uri="{BB962C8B-B14F-4D97-AF65-F5344CB8AC3E}">
        <p14:creationId xmlns:p14="http://schemas.microsoft.com/office/powerpoint/2010/main" val="19454490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C4267-1DA5-5035-F7DA-BD5699B3904D}"/>
              </a:ext>
            </a:extLst>
          </p:cNvPr>
          <p:cNvSpPr>
            <a:spLocks noGrp="1"/>
          </p:cNvSpPr>
          <p:nvPr>
            <p:ph type="title"/>
          </p:nvPr>
        </p:nvSpPr>
        <p:spPr>
          <a:xfrm>
            <a:off x="453005" y="16897"/>
            <a:ext cx="8229600" cy="857250"/>
          </a:xfrm>
        </p:spPr>
        <p:txBody>
          <a:bodyPr/>
          <a:lstStyle/>
          <a:p>
            <a:r>
              <a:rPr lang="en-US" sz="2800" b="1" dirty="0">
                <a:effectLst/>
                <a:latin typeface="Times New Roman" panose="02020603050405020304" pitchFamily="18" charset="0"/>
                <a:ea typeface="Times New Roman" panose="02020603050405020304" pitchFamily="18" charset="0"/>
              </a:rPr>
              <a:t>Principal Component Analysis (PCA)</a:t>
            </a:r>
            <a:endParaRPr lang="en-US" sz="4400" dirty="0"/>
          </a:p>
        </p:txBody>
      </p:sp>
      <p:pic>
        <p:nvPicPr>
          <p:cNvPr id="5" name="image8.png">
            <a:extLst>
              <a:ext uri="{FF2B5EF4-FFF2-40B4-BE49-F238E27FC236}">
                <a16:creationId xmlns:a16="http://schemas.microsoft.com/office/drawing/2014/main" id="{E4ADC4D6-2A01-BDE3-E55E-ECCC8497D03C}"/>
              </a:ext>
            </a:extLst>
          </p:cNvPr>
          <p:cNvPicPr/>
          <p:nvPr/>
        </p:nvPicPr>
        <p:blipFill>
          <a:blip r:embed="rId2" cstate="print">
            <a:extLst>
              <a:ext uri="{28A0092B-C50C-407E-A947-70E740481C1C}">
                <a14:useLocalDpi xmlns:a14="http://schemas.microsoft.com/office/drawing/2010/main" val="0"/>
              </a:ext>
            </a:extLst>
          </a:blip>
          <a:srcRect b="50000"/>
          <a:stretch/>
        </p:blipFill>
        <p:spPr>
          <a:xfrm>
            <a:off x="1439291" y="789478"/>
            <a:ext cx="6114415" cy="3447097"/>
          </a:xfrm>
          <a:prstGeom prst="rect">
            <a:avLst/>
          </a:prstGeom>
          <a:ln/>
        </p:spPr>
      </p:pic>
      <p:sp>
        <p:nvSpPr>
          <p:cNvPr id="6" name="TextBox 5">
            <a:extLst>
              <a:ext uri="{FF2B5EF4-FFF2-40B4-BE49-F238E27FC236}">
                <a16:creationId xmlns:a16="http://schemas.microsoft.com/office/drawing/2014/main" id="{637CEBFC-FDEE-DDCD-7F6C-5B16AF0AC747}"/>
              </a:ext>
            </a:extLst>
          </p:cNvPr>
          <p:cNvSpPr txBox="1"/>
          <p:nvPr/>
        </p:nvSpPr>
        <p:spPr>
          <a:xfrm>
            <a:off x="1549576" y="4236575"/>
            <a:ext cx="6568579" cy="861774"/>
          </a:xfrm>
          <a:prstGeom prst="rect">
            <a:avLst/>
          </a:prstGeom>
          <a:noFill/>
        </p:spPr>
        <p:txBody>
          <a:bodyPr wrap="square" rtlCol="0">
            <a:spAutoFit/>
          </a:bodyPr>
          <a:lstStyle/>
          <a:p>
            <a:pPr algn="ct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Principal component analysis 2D projection plot shows the conformation sampling of, GBA-WT, GBA-I158S on PC1 and PC2.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dirty="0"/>
          </a:p>
        </p:txBody>
      </p:sp>
    </p:spTree>
    <p:extLst>
      <p:ext uri="{BB962C8B-B14F-4D97-AF65-F5344CB8AC3E}">
        <p14:creationId xmlns:p14="http://schemas.microsoft.com/office/powerpoint/2010/main" val="23110748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8.png">
            <a:extLst>
              <a:ext uri="{FF2B5EF4-FFF2-40B4-BE49-F238E27FC236}">
                <a16:creationId xmlns:a16="http://schemas.microsoft.com/office/drawing/2014/main" id="{BDD212D6-6D05-88F7-71F2-3935281261B7}"/>
              </a:ext>
            </a:extLst>
          </p:cNvPr>
          <p:cNvPicPr/>
          <p:nvPr/>
        </p:nvPicPr>
        <p:blipFill>
          <a:blip r:embed="rId2" cstate="print">
            <a:extLst>
              <a:ext uri="{28A0092B-C50C-407E-A947-70E740481C1C}">
                <a14:useLocalDpi xmlns:a14="http://schemas.microsoft.com/office/drawing/2010/main" val="0"/>
              </a:ext>
            </a:extLst>
          </a:blip>
          <a:srcRect t="50000"/>
          <a:stretch/>
        </p:blipFill>
        <p:spPr>
          <a:xfrm>
            <a:off x="1414124" y="575169"/>
            <a:ext cx="6114415" cy="3447098"/>
          </a:xfrm>
          <a:prstGeom prst="rect">
            <a:avLst/>
          </a:prstGeom>
          <a:ln/>
        </p:spPr>
      </p:pic>
      <p:sp>
        <p:nvSpPr>
          <p:cNvPr id="4" name="TextBox 3">
            <a:extLst>
              <a:ext uri="{FF2B5EF4-FFF2-40B4-BE49-F238E27FC236}">
                <a16:creationId xmlns:a16="http://schemas.microsoft.com/office/drawing/2014/main" id="{EDCD966D-527D-34E8-CB43-D4077532565F}"/>
              </a:ext>
            </a:extLst>
          </p:cNvPr>
          <p:cNvSpPr txBox="1"/>
          <p:nvPr/>
        </p:nvSpPr>
        <p:spPr>
          <a:xfrm>
            <a:off x="985705" y="4022267"/>
            <a:ext cx="6971251" cy="861774"/>
          </a:xfrm>
          <a:prstGeom prst="rect">
            <a:avLst/>
          </a:prstGeom>
          <a:noFill/>
        </p:spPr>
        <p:txBody>
          <a:bodyPr wrap="square" rtlCol="0">
            <a:spAutoFit/>
          </a:bodyPr>
          <a:lstStyle/>
          <a:p>
            <a:pPr algn="ct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Principal component analysis 2D projection plot shows the conformation sampling of GBA-I200S, and GBA-I299T on PC1 and PC2.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dirty="0"/>
          </a:p>
        </p:txBody>
      </p:sp>
    </p:spTree>
    <p:extLst>
      <p:ext uri="{BB962C8B-B14F-4D97-AF65-F5344CB8AC3E}">
        <p14:creationId xmlns:p14="http://schemas.microsoft.com/office/powerpoint/2010/main" val="4957375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D8D7E-0E70-F467-FFD6-41A6424B7F1F}"/>
              </a:ext>
            </a:extLst>
          </p:cNvPr>
          <p:cNvSpPr>
            <a:spLocks noGrp="1"/>
          </p:cNvSpPr>
          <p:nvPr>
            <p:ph type="title"/>
          </p:nvPr>
        </p:nvSpPr>
        <p:spPr/>
        <p:txBody>
          <a:bodyPr/>
          <a:lstStyle/>
          <a:p>
            <a:r>
              <a:rPr lang="en-US" sz="2800" b="1" dirty="0">
                <a:effectLst/>
                <a:latin typeface="Times New Roman" panose="02020603050405020304" pitchFamily="18" charset="0"/>
                <a:ea typeface="Times New Roman" panose="02020603050405020304" pitchFamily="18" charset="0"/>
              </a:rPr>
              <a:t>Free Energy Landscapes (FELs) </a:t>
            </a:r>
            <a:endParaRPr lang="en-US" sz="4400" dirty="0"/>
          </a:p>
        </p:txBody>
      </p:sp>
      <p:pic>
        <p:nvPicPr>
          <p:cNvPr id="3" name="image7.jpg">
            <a:extLst>
              <a:ext uri="{FF2B5EF4-FFF2-40B4-BE49-F238E27FC236}">
                <a16:creationId xmlns:a16="http://schemas.microsoft.com/office/drawing/2014/main" id="{6792B3DD-8BC9-83CE-5A3A-59E6326A80DB}"/>
              </a:ext>
            </a:extLst>
          </p:cNvPr>
          <p:cNvPicPr/>
          <p:nvPr/>
        </p:nvPicPr>
        <p:blipFill>
          <a:blip r:embed="rId2" cstate="print">
            <a:extLst>
              <a:ext uri="{28A0092B-C50C-407E-A947-70E740481C1C}">
                <a14:useLocalDpi xmlns:a14="http://schemas.microsoft.com/office/drawing/2010/main" val="0"/>
              </a:ext>
            </a:extLst>
          </a:blip>
          <a:srcRect b="50000"/>
          <a:stretch/>
        </p:blipFill>
        <p:spPr>
          <a:xfrm>
            <a:off x="1807845" y="1063229"/>
            <a:ext cx="5528310" cy="2833052"/>
          </a:xfrm>
          <a:prstGeom prst="rect">
            <a:avLst/>
          </a:prstGeom>
          <a:ln/>
        </p:spPr>
      </p:pic>
      <p:sp>
        <p:nvSpPr>
          <p:cNvPr id="4" name="TextBox 3">
            <a:extLst>
              <a:ext uri="{FF2B5EF4-FFF2-40B4-BE49-F238E27FC236}">
                <a16:creationId xmlns:a16="http://schemas.microsoft.com/office/drawing/2014/main" id="{52D05E03-93CB-67DB-6F2B-E7962D4BC0DA}"/>
              </a:ext>
            </a:extLst>
          </p:cNvPr>
          <p:cNvSpPr txBox="1"/>
          <p:nvPr/>
        </p:nvSpPr>
        <p:spPr>
          <a:xfrm>
            <a:off x="1807845" y="4058626"/>
            <a:ext cx="5913755" cy="878895"/>
          </a:xfrm>
          <a:prstGeom prst="rect">
            <a:avLst/>
          </a:prstGeom>
          <a:noFill/>
        </p:spPr>
        <p:txBody>
          <a:bodyPr wrap="square" rtlCol="0">
            <a:spAutoFit/>
          </a:bodyPr>
          <a:lstStyle/>
          <a:p>
            <a:pPr algn="ctr">
              <a:lnSpc>
                <a:spcPct val="150000"/>
              </a:lnSpc>
              <a:spcAft>
                <a:spcPts val="800"/>
              </a:spcAf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 free energy landscape plots for (A)GBA-WT,       (B)GBA-I158S,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000054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7.jpg">
            <a:extLst>
              <a:ext uri="{FF2B5EF4-FFF2-40B4-BE49-F238E27FC236}">
                <a16:creationId xmlns:a16="http://schemas.microsoft.com/office/drawing/2014/main" id="{C355F749-4F73-216D-8287-C540B5106803}"/>
              </a:ext>
            </a:extLst>
          </p:cNvPr>
          <p:cNvPicPr/>
          <p:nvPr/>
        </p:nvPicPr>
        <p:blipFill>
          <a:blip r:embed="rId2" cstate="print">
            <a:extLst>
              <a:ext uri="{28A0092B-C50C-407E-A947-70E740481C1C}">
                <a14:useLocalDpi xmlns:a14="http://schemas.microsoft.com/office/drawing/2010/main" val="0"/>
              </a:ext>
            </a:extLst>
          </a:blip>
          <a:srcRect t="50000"/>
          <a:stretch/>
        </p:blipFill>
        <p:spPr>
          <a:xfrm>
            <a:off x="1807845" y="531247"/>
            <a:ext cx="5528310" cy="2833053"/>
          </a:xfrm>
          <a:prstGeom prst="rect">
            <a:avLst/>
          </a:prstGeom>
          <a:ln/>
        </p:spPr>
      </p:pic>
      <p:sp>
        <p:nvSpPr>
          <p:cNvPr id="4" name="TextBox 3">
            <a:extLst>
              <a:ext uri="{FF2B5EF4-FFF2-40B4-BE49-F238E27FC236}">
                <a16:creationId xmlns:a16="http://schemas.microsoft.com/office/drawing/2014/main" id="{89C3B04E-44B7-DD38-EC02-38399F9F0AC4}"/>
              </a:ext>
            </a:extLst>
          </p:cNvPr>
          <p:cNvSpPr txBox="1"/>
          <p:nvPr/>
        </p:nvSpPr>
        <p:spPr>
          <a:xfrm>
            <a:off x="1971922" y="3848431"/>
            <a:ext cx="5528309" cy="861774"/>
          </a:xfrm>
          <a:prstGeom prst="rect">
            <a:avLst/>
          </a:prstGeom>
          <a:noFill/>
        </p:spPr>
        <p:txBody>
          <a:bodyPr wrap="square" rtlCol="0">
            <a:spAutoFit/>
          </a:bodyPr>
          <a:lstStyle/>
          <a:p>
            <a:pPr algn="ct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 free energy landscape plots for (C)GBA-I200S , and (D)GBA-I299T.</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60027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70B9E-2734-9005-978F-885B21175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F87BB-CAAF-0AF5-79CD-DFDD58B79530}"/>
              </a:ext>
            </a:extLst>
          </p:cNvPr>
          <p:cNvSpPr>
            <a:spLocks noGrp="1"/>
          </p:cNvSpPr>
          <p:nvPr>
            <p:ph type="title"/>
          </p:nvPr>
        </p:nvSpPr>
        <p:spPr>
          <a:xfrm>
            <a:off x="457200" y="1936391"/>
            <a:ext cx="8229600" cy="857250"/>
          </a:xfrm>
        </p:spPr>
        <p:txBody>
          <a:bodyPr/>
          <a:lstStyle/>
          <a:p>
            <a:r>
              <a:rPr lang="en-US"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endParaRPr lang="en-US"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35412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67DA2-27F4-0A8C-90ED-B8B0A2F15BAB}"/>
              </a:ext>
            </a:extLst>
          </p:cNvPr>
          <p:cNvSpPr>
            <a:spLocks noGrp="1"/>
          </p:cNvSpPr>
          <p:nvPr>
            <p:ph type="title"/>
          </p:nvPr>
        </p:nvSpPr>
        <p:spPr/>
        <p:txBody>
          <a:bodyPr/>
          <a:lstStyle/>
          <a:p>
            <a:r>
              <a:rPr lang="en-US"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p>
        </p:txBody>
      </p:sp>
      <p:sp>
        <p:nvSpPr>
          <p:cNvPr id="3" name="TextBox 2">
            <a:extLst>
              <a:ext uri="{FF2B5EF4-FFF2-40B4-BE49-F238E27FC236}">
                <a16:creationId xmlns:a16="http://schemas.microsoft.com/office/drawing/2014/main" id="{89E6E42A-2840-1787-DB26-AFDB76EF6698}"/>
              </a:ext>
            </a:extLst>
          </p:cNvPr>
          <p:cNvSpPr txBox="1"/>
          <p:nvPr/>
        </p:nvSpPr>
        <p:spPr>
          <a:xfrm>
            <a:off x="620486" y="1314450"/>
            <a:ext cx="7641771" cy="2893100"/>
          </a:xfrm>
          <a:prstGeom prst="rect">
            <a:avLst/>
          </a:prstGeom>
          <a:noFill/>
        </p:spPr>
        <p:txBody>
          <a:bodyPr wrap="square" rtlCol="0">
            <a:spAutoFit/>
          </a:bodyPr>
          <a:lstStyle/>
          <a:p>
            <a:pPr marL="342900" indent="-342900">
              <a:buFont typeface="+mj-lt"/>
              <a:buAutoNum type="arabicPeriod"/>
            </a:pPr>
            <a:r>
              <a:rPr lang="en-US" dirty="0">
                <a:hlinkClick r:id="rId2"/>
              </a:rPr>
              <a:t>https://scholar.google.com/scholar?hl=en&amp;as_sdt=0,5&amp;qsp=2&amp;q=type+1+gaucher%27s+disease&amp;qst=ib#d=gs_qabs&amp;t=1733150615188&amp;u=%23p%3D5AZl8UiLQwQJ</a:t>
            </a:r>
            <a:endParaRPr lang="en-US" dirty="0"/>
          </a:p>
          <a:p>
            <a:pPr marL="342900" indent="-342900">
              <a:buFont typeface="+mj-lt"/>
              <a:buAutoNum type="arabicPeriod"/>
            </a:pPr>
            <a:r>
              <a:rPr lang="en-US" dirty="0">
                <a:hlinkClick r:id="rId3"/>
              </a:rPr>
              <a:t>https://scholar.google.com/scholar?hl=en&amp;as_sdt=0,5&amp;qsp=2&amp;q=type+1+gaucher%27s+disease&amp;qst=ib#d=gs_qabs&amp;t=1733151877695&amp;u=%23p%3DweYv6vcvn58J</a:t>
            </a:r>
            <a:endParaRPr lang="en-US" dirty="0"/>
          </a:p>
          <a:p>
            <a:pPr marL="342900" indent="-342900">
              <a:buFont typeface="+mj-lt"/>
              <a:buAutoNum type="arabicPeriod"/>
            </a:pPr>
            <a:r>
              <a:rPr lang="en-US" dirty="0">
                <a:hlinkClick r:id="rId4"/>
              </a:rPr>
              <a:t>https://www.jpeds.com/article/S0022-3476(03)00814-X/abstract</a:t>
            </a:r>
            <a:endParaRPr lang="en-US" dirty="0"/>
          </a:p>
          <a:p>
            <a:pPr marL="342900" indent="-342900">
              <a:buFont typeface="+mj-lt"/>
              <a:buAutoNum type="arabicPeriod"/>
            </a:pPr>
            <a:r>
              <a:rPr lang="en-US" dirty="0">
                <a:hlinkClick r:id="rId5"/>
              </a:rPr>
              <a:t>https://scholar.google.com/scholar?hl=en&amp;as_sdt=0%2C5&amp;q=type+1+gaucher%27s+disease+with+GBA+gene+mutations++&amp;btnG=#d=gs_qabs&amp;t=1733152295629&amp;u=%23p%3DZSh-BG6FQMAJ</a:t>
            </a:r>
            <a:endParaRPr lang="en-US" dirty="0"/>
          </a:p>
          <a:p>
            <a:pPr marL="342900" indent="-342900">
              <a:buFont typeface="+mj-lt"/>
              <a:buAutoNum type="arabicPeriod"/>
            </a:pPr>
            <a:r>
              <a:rPr lang="en-US" dirty="0">
                <a:hlinkClick r:id="rId6"/>
              </a:rPr>
              <a:t>https://scholar.google.com/scholar?hl=en&amp;as_sdt=0%2C5&amp;q=type+1+gaucher%27s+disease+with+GBA+gene+mutations++&amp;btnG=#d=gs_qabs&amp;t=1733154330664&amp;u=%23p%3Dgek3fTQvOx8J</a:t>
            </a:r>
            <a:endParaRPr lang="en-US" dirty="0"/>
          </a:p>
          <a:p>
            <a:pPr marL="342900" indent="-342900">
              <a:buFont typeface="+mj-lt"/>
              <a:buAutoNum type="arabicPeriod"/>
            </a:pPr>
            <a:r>
              <a:rPr lang="en-US" dirty="0">
                <a:hlinkClick r:id="rId7"/>
              </a:rPr>
              <a:t>A Review of Gaucher Disease Pathophysiology, Clinical Presentation and Treatments - PMC</a:t>
            </a:r>
            <a:endParaRPr lang="en-US" dirty="0"/>
          </a:p>
        </p:txBody>
      </p:sp>
    </p:spTree>
    <p:extLst>
      <p:ext uri="{BB962C8B-B14F-4D97-AF65-F5344CB8AC3E}">
        <p14:creationId xmlns:p14="http://schemas.microsoft.com/office/powerpoint/2010/main" val="29071540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085" y="1947149"/>
            <a:ext cx="8229600" cy="857250"/>
          </a:xfrm>
        </p:spPr>
        <p:txBody>
          <a:bodyPr/>
          <a:lstStyle/>
          <a:p>
            <a:r>
              <a:rPr lang="en-IN" altLang="en-US" sz="60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44*472"/>
  <p:tag name="TABLE_ENDDRAG_RECT" val="36*43*644*47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76*363"/>
  <p:tag name="TABLE_ENDDRAG_RECT" val="36*108*676*363"/>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676*363"/>
  <p:tag name="TABLE_ENDDRAG_RECT" val="36*108*676*363"/>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3638</TotalTime>
  <Words>2783</Words>
  <Application>Microsoft Office PowerPoint</Application>
  <PresentationFormat>On-screen Show (16:9)</PresentationFormat>
  <Paragraphs>267</Paragraphs>
  <Slides>63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Times New Roman</vt:lpstr>
      <vt:lpstr>Arial</vt:lpstr>
      <vt:lpstr>Tahoma</vt:lpstr>
      <vt:lpstr>Calibri</vt:lpstr>
      <vt:lpstr>Default Design</vt:lpstr>
      <vt:lpstr>PowerPoint Presentation</vt:lpstr>
      <vt:lpstr>CONTENTS</vt:lpstr>
      <vt:lpstr>ABSTRACT</vt:lpstr>
      <vt:lpstr>ABSTRACT</vt:lpstr>
      <vt:lpstr>INTRODUCTION</vt:lpstr>
      <vt:lpstr>INTRODUCTION</vt:lpstr>
      <vt:lpstr>Types of Gaucher Disease </vt:lpstr>
      <vt:lpstr>PowerPoint Presentation</vt:lpstr>
      <vt:lpstr>Protein Coding of Gaucher Disease</vt:lpstr>
      <vt:lpstr>PowerPoint Presentation</vt:lpstr>
      <vt:lpstr>PowerPoint Presentation</vt:lpstr>
      <vt:lpstr>Worldwide Statistics</vt:lpstr>
      <vt:lpstr>PowerPoint Presentation</vt:lpstr>
      <vt:lpstr>Literature Review</vt:lpstr>
      <vt:lpstr>Literature Review</vt:lpstr>
      <vt:lpstr>PowerPoint Presentation</vt:lpstr>
      <vt:lpstr>PowerPoint Presentation</vt:lpstr>
      <vt:lpstr>PowerPoint Presentation</vt:lpstr>
      <vt:lpstr>PowerPoint Presentation</vt:lpstr>
      <vt:lpstr>OBJECTIVES</vt:lpstr>
      <vt:lpstr>OBJECTIVES</vt:lpstr>
      <vt:lpstr>Methodology</vt:lpstr>
      <vt:lpstr>Methodology</vt:lpstr>
      <vt:lpstr>PowerPoint Presentation</vt:lpstr>
      <vt:lpstr>2. Identification of missense SNP’s from NCBI website</vt:lpstr>
      <vt:lpstr>3.Collection of information of SNP’s </vt:lpstr>
      <vt:lpstr>PowerPoint Presentation</vt:lpstr>
      <vt:lpstr> In Silico Analysis of SNPs  1. SNP &amp; GO</vt:lpstr>
      <vt:lpstr>SNP &amp; GO Result Analysis</vt:lpstr>
      <vt:lpstr>2. PolyPhen-2 Prediction</vt:lpstr>
      <vt:lpstr>PolyPhen-2 Result</vt:lpstr>
      <vt:lpstr>3. FATHMM</vt:lpstr>
      <vt:lpstr>FATHMM Result</vt:lpstr>
      <vt:lpstr>4. Meta-SNP , SNAP, SIFT, PANTER, PhD-SNP</vt:lpstr>
      <vt:lpstr>Meta-SNP , SNAP, SIFT, PANTER, PhD-SNP Result</vt:lpstr>
      <vt:lpstr>Sequence Based analysis result sheet</vt:lpstr>
      <vt:lpstr>Structural Analysis</vt:lpstr>
      <vt:lpstr>PowerPoint Presentation</vt:lpstr>
      <vt:lpstr>1. DYNA MUT 2</vt:lpstr>
      <vt:lpstr>DYNA MUT 2 RESULT</vt:lpstr>
      <vt:lpstr>2.DUET</vt:lpstr>
      <vt:lpstr>DUET RESULT</vt:lpstr>
      <vt:lpstr>3. MUPRO</vt:lpstr>
      <vt:lpstr>MUPRO RESULT</vt:lpstr>
      <vt:lpstr>4. I-MUTANT</vt:lpstr>
      <vt:lpstr>I-MUTANT RESULT</vt:lpstr>
      <vt:lpstr>5. I-STABLE </vt:lpstr>
      <vt:lpstr>I-STABLE RESULT</vt:lpstr>
      <vt:lpstr>Structure Based analysis result sheet</vt:lpstr>
      <vt:lpstr>Molecular dynamics</vt:lpstr>
      <vt:lpstr>RESULTS  &amp;  DISCUSSION   </vt:lpstr>
      <vt:lpstr>Root Mean Square Deviation (RMSD)</vt:lpstr>
      <vt:lpstr>Root Mean Square Fluctuation (RMSF)</vt:lpstr>
      <vt:lpstr>Radius of gyration (Rg)</vt:lpstr>
      <vt:lpstr> Solvent accessible surface area (SASA) </vt:lpstr>
      <vt:lpstr>Intra Hydrogen Bond</vt:lpstr>
      <vt:lpstr>Principal Component Analysis (PCA)</vt:lpstr>
      <vt:lpstr>PowerPoint Presentation</vt:lpstr>
      <vt:lpstr>Free Energy Landscapes (FELs) </vt:lpstr>
      <vt:lpstr>PowerPoint Presentation</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dc:creator>
  <cp:lastModifiedBy>Gagan KC</cp:lastModifiedBy>
  <cp:revision>90</cp:revision>
  <dcterms:created xsi:type="dcterms:W3CDTF">2024-08-04T11:18:41Z</dcterms:created>
  <dcterms:modified xsi:type="dcterms:W3CDTF">2025-02-09T10:44:00Z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5ED48245E9E348F988A44D79E9FFF1B7_13</vt:lpwstr>
  </property>
  <property fmtid="{D5CDD505-2E9C-101B-9397-08002B2CF9AE}" pid="3" name="KSOProductBuildVer">
    <vt:lpwstr>1033-12.2.0.17153</vt:lpwstr>
  </property>
</Properties>
</file>